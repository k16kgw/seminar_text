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25880"/>
            <a:ext cx="9994392" cy="12801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173451"/>
                </a:solidFill>
                <a:latin typeface="Yu Gothic"/>
              </a:rPr>
              <a:t>卒業研究準備セミナー
概念図・編集用元データ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063240"/>
            <a:ext cx="9994392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>すべての文字・図形・矢印はPowerPoint上で個別に編集できます．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9994392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本文表示用SVGと同じ考え方を，編集しやすい図形で再構成しています．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教材を研究の足場として使う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learning_path.svg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11680"/>
            <a:ext cx="1842150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卒研の準備
研究設計・各モデルの入口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26782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7406" y="2011680"/>
            <a:ext cx="184215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基礎モデル
最小の式・標準設定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148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4772" y="2011680"/>
            <a:ext cx="184215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研究技能
測る・比較する・検証する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81514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2138" y="2011680"/>
            <a:ext cx="1842150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ロードマップ
必要な段階を参照する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608880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29504" y="2011680"/>
            <a:ext cx="1842150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卒業研究
拡張・比較・考察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問題が見つかったら，基礎モデルや研究技能へ戻る．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数理モデリングは検証しながら戻る循環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research_cycle.svg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25880"/>
            <a:ext cx="2448991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現象と問い
何を比較するか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33623" y="18470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54247" y="1325880"/>
            <a:ext cx="2448991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状態と仮定
何を残すか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67831" y="18470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88455" y="1325880"/>
            <a:ext cx="2448991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最小モデル
式・更新規則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02039" y="18470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22663" y="1325880"/>
            <a:ext cx="2448991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数値実験
条件を1つ変える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886200"/>
            <a:ext cx="3460394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妥当性と限界
どこまで言えるか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45026" y="44074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5650" y="3886200"/>
            <a:ext cx="3460394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検証
誤差・再現性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90636" y="44074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1260" y="3886200"/>
            <a:ext cx="3460394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評価指標
図を数値へ変える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212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結果が問いに答えなければ，状態変数・仮定・比較条件を見直す．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789920" y="2788920"/>
            <a:ext cx="320040" cy="64008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960120" y="2788920"/>
            <a:ext cx="320040" cy="64008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2次元ラプラシアンの5点差分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pde_five_point_stencil.svg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07592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20824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4056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47288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07592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0824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34056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07592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20824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34056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47288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07592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24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34056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07592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20824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34056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47288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30552" y="2587752"/>
            <a:ext cx="493776" cy="493776"/>
          </a:xfrm>
          <a:prstGeom prst="ellipse">
            <a:avLst/>
          </a:prstGeom>
          <a:solidFill>
            <a:srgbClr val="FFDB8A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中央</a:t>
            </a:r>
          </a:p>
        </p:txBody>
      </p:sp>
      <p:sp>
        <p:nvSpPr>
          <p:cNvPr id="30" name="Oval 29"/>
          <p:cNvSpPr/>
          <p:nvPr/>
        </p:nvSpPr>
        <p:spPr>
          <a:xfrm>
            <a:off x="2130552" y="1874519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上</a:t>
            </a:r>
          </a:p>
        </p:txBody>
      </p:sp>
      <p:sp>
        <p:nvSpPr>
          <p:cNvPr id="31" name="Oval 30"/>
          <p:cNvSpPr/>
          <p:nvPr/>
        </p:nvSpPr>
        <p:spPr>
          <a:xfrm>
            <a:off x="2130552" y="3300984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下</a:t>
            </a:r>
          </a:p>
        </p:txBody>
      </p:sp>
      <p:sp>
        <p:nvSpPr>
          <p:cNvPr id="32" name="Oval 31"/>
          <p:cNvSpPr/>
          <p:nvPr/>
        </p:nvSpPr>
        <p:spPr>
          <a:xfrm>
            <a:off x="1417320" y="2587752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左</a:t>
            </a:r>
          </a:p>
        </p:txBody>
      </p:sp>
      <p:sp>
        <p:nvSpPr>
          <p:cNvPr id="33" name="Oval 32"/>
          <p:cNvSpPr/>
          <p:nvPr/>
        </p:nvSpPr>
        <p:spPr>
          <a:xfrm>
            <a:off x="2843784" y="2587752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1417320"/>
            <a:ext cx="6492240" cy="128016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1554480"/>
            <a:ext cx="612648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Δ</m:t>
                  </m:r>
                  <m:sSub>
                    <m:e>
                      <m:r>
                        <m:t>u</m:t>
                      </m:r>
                    </m:e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j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4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</m:num>
                    <m:den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Δ</m:t>
                      </m:r>
                      <m:r>
                        <m:t>x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den>
                  </m:f>
                </m:oMath>
              </m:oMathPara>
            </a14:m>
            <a:endParaRPr sz="1800" lang="ja-JP"/>
          </a:p>
        </p:txBody>
      </p:sp>
      <p:sp>
        <p:nvSpPr>
          <p:cNvPr id="36" name="Rounded Rectangle 35"/>
          <p:cNvSpPr/>
          <p:nvPr/>
        </p:nvSpPr>
        <p:spPr>
          <a:xfrm>
            <a:off x="4800600" y="3154680"/>
            <a:ext cx="306324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0">
                <a:solidFill>
                  <a:srgbClr val="21364A"/>
                </a:solidFill>
                <a:latin typeface="Yu Gothic"/>
              </a:rPr>
              <a:t>中央が周囲より高い
次時刻に中央の値が下がる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3611880"/>
            <a:ext cx="214884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Δ</m:t>
                  </m:r>
                  <m:sSub>
                    <m:e>
                      <m:r>
                        <m:t>u</m:t>
                      </m:r>
                    </m:e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j</m:t>
                      </m:r>
                    </m:sub>
                  </m:sSub>
                  <m:r>
                    <m:rPr>
                      <m:sty m:val="p"/>
                    </m:rPr>
                    <m:t>&lt;</m:t>
                  </m:r>
                  <m:r>
                    <m:t>0</m:t>
                  </m:r>
                </m:oMath>
              </m:oMathPara>
            </a14:m>
            <a:endParaRPr sz="1700" lang="ja-JP"/>
          </a:p>
        </p:txBody>
      </p:sp>
      <p:sp>
        <p:nvSpPr>
          <p:cNvPr id="38" name="Rounded Rectangle 37"/>
          <p:cNvSpPr/>
          <p:nvPr/>
        </p:nvSpPr>
        <p:spPr>
          <a:xfrm>
            <a:off x="8229600" y="3154680"/>
            <a:ext cx="306324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0">
                <a:solidFill>
                  <a:srgbClr val="21364A"/>
                </a:solidFill>
                <a:latin typeface="Yu Gothic"/>
              </a:rPr>
              <a:t>中央が周囲より低い
次時刻に中央の値が上がる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611880"/>
            <a:ext cx="214884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Δ</m:t>
                  </m:r>
                  <m:sSub>
                    <m:e>
                      <m:r>
                        <m:t>u</m:t>
                      </m:r>
                    </m:e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j</m:t>
                      </m:r>
                    </m:sub>
                  </m:sSub>
                  <m:r>
                    <m:rPr>
                      <m:sty m:val="p"/>
                    </m:rPr>
                    <m:t>&gt;</m:t>
                  </m:r>
                  <m:r>
                    <m:t>0</m:t>
                  </m:r>
                </m:oMath>
              </m:oMathPara>
            </a14:m>
            <a:endParaRPr sz="1700" lang="ja-JP"/>
          </a:p>
        </p:txBody>
      </p:sp>
      <p:sp>
        <p:nvSpPr>
          <p:cNvPr id="40" name="TextBox 39"/>
          <p:cNvSpPr txBox="1"/>
          <p:nvPr/>
        </p:nvSpPr>
        <p:spPr>
          <a:xfrm>
            <a:off x="4800600" y="4709160"/>
            <a:ext cx="6492240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中央と上下左右の4点を参照する．斜め4点は含めない．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反応拡散 = 各点の反応 + 点どうしの拡散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reaction_diffusion_parts.svg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063240" cy="210312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反応だけ
各場所で2変数ODEが進む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788920"/>
            <a:ext cx="15087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u</m:t>
                  </m:r>
                  <m:r>
                    <m:rPr>
                      <m:sty m:val="p"/>
                    </m:rPr>
                    <m:t>⇄</m:t>
                  </m:r>
                  <m:r>
                    <m:t>v</m:t>
                  </m:r>
                </m:oMath>
              </m:oMathPara>
            </a14:m>
            <a:endParaRPr sz="1900" lang="ja-JP"/>
          </a:p>
        </p:txBody>
      </p:sp>
      <p:sp>
        <p:nvSpPr>
          <p:cNvPr id="6" name="TextBox 5"/>
          <p:cNvSpPr txBox="1"/>
          <p:nvPr/>
        </p:nvSpPr>
        <p:spPr>
          <a:xfrm>
            <a:off x="3703320" y="2011680"/>
            <a:ext cx="502920" cy="54864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60798E"/>
                </a:solidFill>
                <a:latin typeface="Yu Gothic"/>
              </a:rPr>
              <a:t>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17320"/>
            <a:ext cx="3063240" cy="210312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拡散だけ
高い場所から低い場所へ広がる
空間差をならす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43800" y="2240280"/>
            <a:ext cx="54864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75320" y="1417320"/>
            <a:ext cx="3337560" cy="210312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組合せ
特定の空間スケールが成長
斑点・縞・迷路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360152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52677A"/>
                </a:solidFill>
                <a:latin typeface="Yu Gothic"/>
              </a:rPr>
              <a:t>式を読むときは，まず反応だけ・拡散だけの場合を分けて考える．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逐次更新と一斉更新の違い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agent_update_modes.svg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246120" cy="219456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更新前
A → □ ← B
2人が中央セルを希望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86200" y="2240280"/>
            <a:ext cx="50292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26280" y="1325880"/>
            <a:ext cx="2971800" cy="219456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逐次更新
Aを先に処理
Aが中央を確保する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635240" y="2240280"/>
            <a:ext cx="50292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325880"/>
            <a:ext cx="3383280" cy="219456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一斉更新
全員の希望を集める
競合規則で結果を決める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0725912" cy="64008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52677A"/>
                </a:solidFill>
                <a:latin typeface="Yu Gothic"/>
              </a:rPr>
              <a:t>更新順序は実装上の都合ではなく，明記すべきモデルの仮定である．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有向グラフと隣接行列の対応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network_matrix_graph.svg</a:t>
            </a:r>
          </a:p>
        </p:txBody>
      </p:sp>
      <p:sp>
        <p:nvSpPr>
          <p:cNvPr id="4" name="Oval 3"/>
          <p:cNvSpPr/>
          <p:nvPr/>
        </p:nvSpPr>
        <p:spPr>
          <a:xfrm>
            <a:off x="1783080" y="1143000"/>
            <a:ext cx="914400" cy="914400"/>
          </a:xfrm>
          <a:prstGeom prst="ellipse">
            <a:avLst/>
          </a:prstGeom>
          <a:solidFill>
            <a:srgbClr val="EAF4FF"/>
          </a:solidFill>
          <a:ln w="2286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3474720"/>
            <a:ext cx="914400" cy="914400"/>
          </a:xfrm>
          <a:prstGeom prst="ellipse">
            <a:avLst/>
          </a:prstGeom>
          <a:solidFill>
            <a:srgbClr val="EAF8EF"/>
          </a:solidFill>
          <a:ln w="2286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2880360" y="3474720"/>
            <a:ext cx="914400" cy="914400"/>
          </a:xfrm>
          <a:prstGeom prst="ellipse">
            <a:avLst/>
          </a:prstGeom>
          <a:solidFill>
            <a:srgbClr val="FFF3E1"/>
          </a:solidFill>
          <a:ln w="2286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286000"/>
            <a:ext cx="22860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0">
                <a:solidFill>
                  <a:srgbClr val="21364A"/>
                </a:solidFill>
                <a:latin typeface="Yu Gothic"/>
              </a:rPr>
              <a:t>2 → 1 : 0.8
3 → 2 : 1.0
1 → 3 : 0.5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6309360" cy="205740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554480"/>
            <a:ext cx="5120640" cy="155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A</m:t>
                  </m:r>
                  <m:r>
                    <m:rPr>
                      <m:sty m:val="p"/>
                    </m:rPr>
                    <m:t>=</m:t>
                  </m:r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0.8</m:t>
                            </m:r>
                          </m:e>
                          <m:e>
                            <m:r>
                              <m:t>0</m:t>
                            </m:r>
                          </m:e>
                        </m:mr>
                        <m:mr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1.0</m:t>
                            </m:r>
                          </m:e>
                        </m:mr>
                        <m:mr>
                          <m:e>
                            <m:r>
                              <m:t>0.5</m:t>
                            </m:r>
                          </m:e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0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2100" lang="ja-JP"/>
          </a:p>
        </p:txBody>
      </p:sp>
      <p:sp>
        <p:nvSpPr>
          <p:cNvPr id="10" name="Rounded Rectangle 9"/>
          <p:cNvSpPr/>
          <p:nvPr/>
        </p:nvSpPr>
        <p:spPr>
          <a:xfrm>
            <a:off x="5257800" y="3840480"/>
            <a:ext cx="4937760" cy="123444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700" b="0">
                <a:solidFill>
                  <a:srgbClr val="21364A"/>
                </a:solidFill>
                <a:latin typeface="Yu Gothic"/>
              </a:rPr>
              <a:t>第1行は頂点1へ入る影響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950208"/>
            <a:ext cx="25603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(</m:t>
                  </m:r>
                  <m:r>
                    <m:t>A</m:t>
                  </m:r>
                  <m:r>
                    <m:rPr>
                      <m:sty m:val="bi"/>
                    </m:rPr>
                    <m:t>x</m:t>
                  </m:r>
                  <m:sSub>
                    <m:e>
                      <m:r>
                        <m:rPr>
                          <m:sty m:val="p"/>
                        </m:rPr>
                        <m:t>)</m:t>
                      </m:r>
                    </m:e>
                    <m:sub>
                      <m:r>
                        <m:t>1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r>
                    <m:t>0.8</m:t>
                  </m:r>
                  <m:sSub>
                    <m:e>
                      <m:r>
                        <m:t>x</m:t>
                      </m:r>
                    </m:e>
                    <m:sub>
                      <m:r>
                        <m:t>2</m:t>
                      </m:r>
                    </m:sub>
                  </m:sSub>
                </m:oMath>
              </m:oMathPara>
            </a14:m>
            <a:endParaRPr sz="1800" lang="ja-JP"/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591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Aᵢⱼ は頂点 j から頂点 i への影響．列が出発点，行が到着点．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1次元フィンの熱収支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fin_heat_balance.svg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280160" cy="1920240"/>
          </a:xfrm>
          <a:prstGeom prst="roundRect">
            <a:avLst/>
          </a:prstGeom>
          <a:solidFill>
            <a:srgbClr val="E85F49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700" b="1">
                <a:solidFill>
                  <a:srgbClr val="21364A"/>
                </a:solidFill>
                <a:latin typeface="Yu Gothic"/>
              </a:rPr>
              <a:t>体部
根元温度を固定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944368"/>
            <a:ext cx="1051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T</m:t>
                  </m:r>
                  <m:r>
                    <m:rPr>
                      <m:sty m:val="p"/>
                    </m:rPr>
                    <m:t>=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b</m:t>
                      </m:r>
                    </m:sub>
                  </m:sSub>
                </m:oMath>
              </m:oMathPara>
            </a14:m>
            <a:endParaRPr sz="1600" lang="ja-JP"/>
          </a:p>
        </p:txBody>
      </p:sp>
      <p:sp>
        <p:nvSpPr>
          <p:cNvPr id="6" name="Rectangle 5"/>
          <p:cNvSpPr/>
          <p:nvPr/>
        </p:nvSpPr>
        <p:spPr>
          <a:xfrm>
            <a:off x="1828800" y="2103120"/>
            <a:ext cx="8686800" cy="1325880"/>
          </a:xfrm>
          <a:prstGeom prst="rect">
            <a:avLst/>
          </a:prstGeom>
          <a:solidFill>
            <a:srgbClr val="FFF0D0"/>
          </a:solidFill>
          <a:ln w="19050">
            <a:solidFill>
              <a:srgbClr val="A178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200" b="1">
                <a:solidFill>
                  <a:srgbClr val="21364A"/>
                </a:solidFill>
                <a:latin typeface="Yu Gothic"/>
              </a:rPr>
              <a:t>フィン内部の熱伝導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761488"/>
            <a:ext cx="274320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−</m:t>
                  </m:r>
                  <m:r>
                    <m:t>k</m:t>
                  </m:r>
                  <m:r>
                    <m:t>A</m:t>
                  </m:r>
                  <m:f>
                    <m:fPr>
                      <m:type m:val="bar"/>
                    </m:fPr>
                    <m:num>
                      <m:r>
                        <m:t>d</m:t>
                      </m:r>
                      <m:r>
                        <m:t>T</m:t>
                      </m:r>
                    </m:num>
                    <m:den>
                      <m:r>
                        <m:t>d</m:t>
                      </m:r>
                      <m:r>
                        <m:t>x</m:t>
                      </m:r>
                    </m:den>
                  </m:f>
                </m:oMath>
              </m:oMathPara>
            </a14:m>
            <a:endParaRPr sz="1900" lang="ja-JP"/>
          </a:p>
        </p:txBody>
      </p:sp>
      <p:sp>
        <p:nvSpPr>
          <p:cNvPr id="8" name="Right Arrow 7"/>
          <p:cNvSpPr/>
          <p:nvPr/>
        </p:nvSpPr>
        <p:spPr>
          <a:xfrm>
            <a:off x="1417320" y="2560320"/>
            <a:ext cx="914400" cy="320040"/>
          </a:xfrm>
          <a:prstGeom prst="rightArrow">
            <a:avLst/>
          </a:prstGeom>
          <a:solidFill>
            <a:srgbClr val="D65D47"/>
          </a:solidFill>
          <a:ln>
            <a:solidFill>
              <a:srgbClr val="D65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283464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283464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457200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457200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30936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630936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804672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04672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Up Arrow 16"/>
          <p:cNvSpPr/>
          <p:nvPr/>
        </p:nvSpPr>
        <p:spPr>
          <a:xfrm>
            <a:off x="978408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978408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713232"/>
            <a:ext cx="7132320" cy="38404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表面から周囲へ対流で放熱する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060704"/>
            <a:ext cx="32918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h</m:t>
                  </m:r>
                  <m:r>
                    <m:t>P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−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m:t>∞</m:t>
                      </m:r>
                    </m:sub>
                  </m:sSub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800" lang="ja-JP"/>
          </a:p>
        </p:txBody>
      </p:sp>
      <p:sp>
        <p:nvSpPr>
          <p:cNvPr id="21" name="TextBox 20"/>
          <p:cNvSpPr txBox="1"/>
          <p:nvPr/>
        </p:nvSpPr>
        <p:spPr>
          <a:xfrm>
            <a:off x="1371600" y="4892040"/>
            <a:ext cx="9509760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52677A"/>
                </a:solidFill>
                <a:latin typeface="Yu Gothic"/>
              </a:rPr>
              <a:t>先へ進むほど熱が周囲へ失われ，温度差が小さくなる．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薄板モデルの領域と境界条件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plate_boundary_conditions.svg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5669280" cy="3474720"/>
          </a:xfrm>
          <a:prstGeom prst="rect">
            <a:avLst/>
          </a:prstGeom>
          <a:solidFill>
            <a:srgbClr val="FFF4DD"/>
          </a:solidFill>
          <a:ln w="19050">
            <a:solidFill>
              <a:srgbClr val="B98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300" b="1">
                <a:solidFill>
                  <a:srgbClr val="21364A"/>
                </a:solidFill>
                <a:latin typeface="Yu Gothic"/>
              </a:rPr>
              <a:t>板の内部領域
熱伝導方程式を解く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880360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k</m:t>
                  </m:r>
                  <m:r>
                    <m:rPr>
                      <m:sty m:val="p"/>
                    </m:rPr>
                    <m:t>Δ</m:t>
                  </m:r>
                  <m:r>
                    <m:t>T</m:t>
                  </m:r>
                </m:oMath>
              </m:oMathPara>
            </a14:m>
            <a:endParaRPr sz="2000" lang="ja-JP"/>
          </a:p>
        </p:txBody>
      </p:sp>
      <p:sp>
        <p:nvSpPr>
          <p:cNvPr id="6" name="Rectangle 5"/>
          <p:cNvSpPr/>
          <p:nvPr/>
        </p:nvSpPr>
        <p:spPr>
          <a:xfrm>
            <a:off x="914400" y="4069080"/>
            <a:ext cx="5669280" cy="594360"/>
          </a:xfrm>
          <a:prstGeom prst="rect">
            <a:avLst/>
          </a:prstGeom>
          <a:solidFill>
            <a:srgbClr val="EE6453"/>
          </a:solidFill>
          <a:ln w="19050">
            <a:solidFill>
              <a:srgbClr val="EE64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根元は固定温度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160520"/>
            <a:ext cx="123444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T</m:t>
                  </m:r>
                  <m:r>
                    <m:rPr>
                      <m:sty m:val="p"/>
                    </m:rPr>
                    <m:t>=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b</m:t>
                      </m:r>
                    </m:sub>
                  </m:sSub>
                </m:oMath>
              </m:oMathPara>
            </a14:m>
            <a:endParaRPr sz="1700" lang="ja-JP"/>
          </a:p>
        </p:txBody>
      </p:sp>
      <p:sp>
        <p:nvSpPr>
          <p:cNvPr id="8" name="Up Arrow 7"/>
          <p:cNvSpPr/>
          <p:nvPr/>
        </p:nvSpPr>
        <p:spPr>
          <a:xfrm>
            <a:off x="123444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242316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361188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480060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598932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411480" y="2103120"/>
            <a:ext cx="502920" cy="292608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583680" y="2103120"/>
            <a:ext cx="502920" cy="292608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1097280"/>
            <a:ext cx="3474720" cy="347472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計算で区別するもの
内部セル
根元セル
対流境界
形状の外部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46320"/>
            <a:ext cx="6217920" cy="38404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側面・先端の対流境界条件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230368"/>
            <a:ext cx="502920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−</m:t>
                  </m:r>
                  <m:r>
                    <m:t>k</m:t>
                  </m:r>
                  <m:f>
                    <m:fPr>
                      <m:type m:val="bar"/>
                    </m:fPr>
                    <m:num>
                      <m:r>
                        <m:rPr>
                          <m:sty m:val="p"/>
                        </m:rPr>
                        <m:t>∂</m:t>
                      </m:r>
                      <m:r>
                        <m:t>T</m:t>
                      </m:r>
                    </m:num>
                    <m:den>
                      <m:r>
                        <m:rPr>
                          <m:sty m:val="p"/>
                        </m:rPr>
                        <m:t>∂</m:t>
                      </m:r>
                      <m:r>
                        <m:t>n</m:t>
                      </m:r>
                    </m:den>
                  </m:f>
                  <m:r>
                    <m:rPr>
                      <m:sty m:val="p"/>
                    </m:rPr>
                    <m:t>=</m:t>
                  </m:r>
                  <m:r>
                    <m:t>h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−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m:t>∞</m:t>
                      </m:r>
                    </m:sub>
                  </m:sSub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700" lang="ja-JP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模様の見た目を複数の観察量へ分ける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pattern_measurements.svg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828800"/>
            <a:ext cx="1842150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入力する模様
同じ画像を使う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26782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7406" y="1828800"/>
            <a:ext cx="184215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面積比
明るい画素 ÷ 全画素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148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4772" y="1828800"/>
            <a:ext cx="184215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個数
連結領域を数える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81514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2138" y="1828800"/>
            <a:ext cx="1842150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特徴波長
模様の代表的な間隔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608880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29504" y="1828800"/>
            <a:ext cx="1842150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方向
縞の向き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1つの特徴量だけでは区別できない模様がある．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乗降セルオートマトンの空間と規則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boarding_space_rules.svg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05840"/>
            <a:ext cx="6583680" cy="2286000"/>
          </a:xfrm>
          <a:prstGeom prst="rect">
            <a:avLst/>
          </a:prstGeom>
          <a:solidFill>
            <a:srgbClr val="EAF4FF"/>
          </a:solidFill>
          <a:ln w="1905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200" b="1">
                <a:solidFill>
                  <a:srgbClr val="21364A"/>
                </a:solidFill>
                <a:latin typeface="Yu Gothic"/>
              </a:rPr>
              <a:t>車内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291840"/>
            <a:ext cx="6583680" cy="1280160"/>
          </a:xfrm>
          <a:prstGeom prst="rect">
            <a:avLst/>
          </a:prstGeom>
          <a:solidFill>
            <a:srgbClr val="FFF3E1"/>
          </a:solidFill>
          <a:ln w="19050">
            <a:solidFill>
              <a:srgbClr val="BD8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200" b="1">
                <a:solidFill>
                  <a:srgbClr val="21364A"/>
                </a:solidFill>
                <a:latin typeface="Yu Gothic"/>
              </a:rPr>
              <a:t>ホーム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120" y="2926080"/>
            <a:ext cx="128016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5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ドア</a:t>
            </a:r>
          </a:p>
        </p:txBody>
      </p:sp>
      <p:sp>
        <p:nvSpPr>
          <p:cNvPr id="7" name="Oval 6"/>
          <p:cNvSpPr/>
          <p:nvPr/>
        </p:nvSpPr>
        <p:spPr>
          <a:xfrm>
            <a:off x="3337560" y="1508760"/>
            <a:ext cx="685800" cy="685800"/>
          </a:xfrm>
          <a:prstGeom prst="ellipse">
            <a:avLst/>
          </a:prstGeom>
          <a:solidFill>
            <a:srgbClr val="FFECEF"/>
          </a:solidFill>
          <a:ln w="22860">
            <a:solidFill>
              <a:srgbClr val="D95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1">
                <a:solidFill>
                  <a:srgbClr val="21364A"/>
                </a:solidFill>
                <a:latin typeface="Yu Gothic"/>
              </a:rPr>
              <a:t>降</a:t>
            </a:r>
          </a:p>
        </p:txBody>
      </p:sp>
      <p:sp>
        <p:nvSpPr>
          <p:cNvPr id="8" name="Oval 7"/>
          <p:cNvSpPr/>
          <p:nvPr/>
        </p:nvSpPr>
        <p:spPr>
          <a:xfrm>
            <a:off x="3794760" y="3657600"/>
            <a:ext cx="685800" cy="685800"/>
          </a:xfrm>
          <a:prstGeom prst="ellipse">
            <a:avLst/>
          </a:prstGeom>
          <a:solidFill>
            <a:srgbClr val="EAF4FF"/>
          </a:solidFill>
          <a:ln w="22860">
            <a:solidFill>
              <a:srgbClr val="3C8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1">
                <a:solidFill>
                  <a:srgbClr val="21364A"/>
                </a:solidFill>
                <a:latin typeface="Yu Gothic"/>
              </a:rPr>
              <a:t>乗</a:t>
            </a:r>
          </a:p>
        </p:txBody>
      </p:sp>
      <p:sp>
        <p:nvSpPr>
          <p:cNvPr id="9" name="Down Arrow 8"/>
          <p:cNvSpPr/>
          <p:nvPr/>
        </p:nvSpPr>
        <p:spPr>
          <a:xfrm>
            <a:off x="3493008" y="2194560"/>
            <a:ext cx="320040" cy="64008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3977639" y="3063240"/>
            <a:ext cx="320040" cy="64008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26679" y="1143000"/>
            <a:ext cx="3749039" cy="356616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700" b="1">
                <a:solidFill>
                  <a:srgbClr val="21364A"/>
                </a:solidFill>
                <a:latin typeface="Yu Gothic"/>
              </a:rPr>
              <a:t>1ステップの規則
1. 近傍から候補を選ぶ
2. 同じセルの競合を解く
3. 確定した移動を反映
1セルに1人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確率的シミュレーションは分布で比較する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repeated_simulation.svg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874519"/>
            <a:ext cx="3460394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固定する条件
人数・空間・規則・更新方式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45026" y="2395727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65650" y="1874519"/>
            <a:ext cx="3460394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seedだけ変える
複数のseedで独立に実行する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990636" y="2395727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1260" y="1874519"/>
            <a:ext cx="3460394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分布として比較
平均・中央値・ばらつき・未完了率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39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基準条件と代替条件には同じseed集合を使い，偶然差をそろえる．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4069080"/>
            <a:ext cx="4114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s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d</m:t>
                  </m:r>
                  <m:r>
                    <m:t> </m:t>
                  </m:r>
                  <m:r>
                    <m:t>1</m:t>
                  </m:r>
                  <m:r>
                    <m:rPr>
                      <m:sty m:val="p"/>
                    </m:rPr>
                    <m:t>↦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1</m:t>
                      </m:r>
                    </m:sub>
                  </m:sSub>
                  <m:r>
                    <m:rPr>
                      <m:sty m:val="p"/>
                    </m:rPr>
                    <m:t>,</m:t>
                  </m:r>
                  <m:r>
                    <m:rPr>
                      <m:sty m:val="p"/>
                    </m:rPr>
                    <m:t>…</m:t>
                  </m:r>
                  <m:r>
                    <m:rPr>
                      <m:sty m:val="p"/>
                    </m:rPr>
                    <m:t>,</m:t>
                  </m:r>
                  <m:r>
                    <m:rPr>
                      <m:sty m:val="p"/>
                    </m:rPr>
                    <m:t>s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d</m:t>
                  </m:r>
                  <m:r>
                    <m:t> </m:t>
                  </m:r>
                  <m:r>
                    <m:t>n</m:t>
                  </m:r>
                  <m:r>
                    <m:rPr>
                      <m:sty m:val="p"/>
                    </m:rPr>
                    <m:t>↦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n</m:t>
                      </m:r>
                    </m:sub>
                  </m:sSub>
                </m:oMath>
              </m:oMathPara>
            </a14:m>
            <a:endParaRPr sz="1700" lang="ja-JP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2人の線形ODEと係数行列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two_person_coupling.svg</a:t>
            </a:r>
          </a:p>
        </p:txBody>
      </p:sp>
      <p:sp>
        <p:nvSpPr>
          <p:cNvPr id="4" name="Oval 3"/>
          <p:cNvSpPr/>
          <p:nvPr/>
        </p:nvSpPr>
        <p:spPr>
          <a:xfrm>
            <a:off x="1143000" y="1874519"/>
            <a:ext cx="1371600" cy="1371600"/>
          </a:xfrm>
          <a:prstGeom prst="ellipse">
            <a:avLst/>
          </a:prstGeom>
          <a:solidFill>
            <a:srgbClr val="EAF4FF"/>
          </a:solidFill>
          <a:ln w="22860">
            <a:solidFill>
              <a:srgbClr val="397B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100" b="1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286000"/>
            <a:ext cx="8229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R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900" lang="ja-JP"/>
          </a:p>
        </p:txBody>
      </p:sp>
      <p:sp>
        <p:nvSpPr>
          <p:cNvPr id="6" name="Oval 5"/>
          <p:cNvSpPr/>
          <p:nvPr/>
        </p:nvSpPr>
        <p:spPr>
          <a:xfrm>
            <a:off x="3886200" y="1874519"/>
            <a:ext cx="1371600" cy="1371600"/>
          </a:xfrm>
          <a:prstGeom prst="ellipse">
            <a:avLst/>
          </a:prstGeom>
          <a:solidFill>
            <a:srgbClr val="FFF3E1"/>
          </a:solidFill>
          <a:ln w="22860">
            <a:solidFill>
              <a:srgbClr val="C8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100" b="1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286000"/>
            <a:ext cx="8229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J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900" lang="ja-JP"/>
          </a:p>
        </p:txBody>
      </p:sp>
      <p:sp>
        <p:nvSpPr>
          <p:cNvPr id="8" name="Right Arrow 7"/>
          <p:cNvSpPr/>
          <p:nvPr/>
        </p:nvSpPr>
        <p:spPr>
          <a:xfrm>
            <a:off x="2560320" y="1600200"/>
            <a:ext cx="128016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170432"/>
            <a:ext cx="457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c</m:t>
                  </m:r>
                </m:oMath>
              </m:oMathPara>
            </a14:m>
            <a:endParaRPr sz="1900" lang="ja-JP"/>
          </a:p>
        </p:txBody>
      </p:sp>
      <p:sp>
        <p:nvSpPr>
          <p:cNvPr id="10" name="Left Arrow 9"/>
          <p:cNvSpPr/>
          <p:nvPr/>
        </p:nvSpPr>
        <p:spPr>
          <a:xfrm>
            <a:off x="2560320" y="3291840"/>
            <a:ext cx="1280160" cy="320040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3657600"/>
            <a:ext cx="457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b</m:t>
                  </m:r>
                </m:oMath>
              </m:oMathPara>
            </a14:m>
            <a:endParaRPr sz="1900" lang="ja-JP"/>
          </a:p>
        </p:txBody>
      </p:sp>
      <p:sp>
        <p:nvSpPr>
          <p:cNvPr id="12" name="Rounded Rectangle 11"/>
          <p:cNvSpPr/>
          <p:nvPr/>
        </p:nvSpPr>
        <p:spPr>
          <a:xfrm>
            <a:off x="6400800" y="1097280"/>
            <a:ext cx="4663440" cy="38404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463040"/>
            <a:ext cx="402336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f>
                    <m:fPr>
                      <m:type m:val="bar"/>
                    </m:fPr>
                    <m:num>
                      <m:r>
                        <m:t>d</m:t>
                      </m:r>
                    </m:num>
                    <m:den>
                      <m:r>
                        <m:t>d</m:t>
                      </m:r>
                      <m:r>
                        <m:t>t</m:t>
                      </m:r>
                    </m:den>
                  </m:f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R</m:t>
                            </m:r>
                          </m:e>
                        </m:mr>
                        <m:mr>
                          <m:e>
                            <m:r>
                              <m:t>J</m:t>
                            </m:r>
                          </m:e>
                        </m:mr>
                      </m:m>
                    </m:e>
                  </m:d>
                  <m:r>
                    <m:rPr>
                      <m:sty m:val="p"/>
                    </m:rPr>
                    <m:t>=</m:t>
                  </m:r>
                  <m:r>
                    <m:t>M</m:t>
                  </m:r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R</m:t>
                            </m:r>
                          </m:e>
                        </m:mr>
                        <m:mr>
                          <m:e>
                            <m:r>
                              <m:t>J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1800" lang="ja-JP"/>
          </a:p>
        </p:txBody>
      </p:sp>
      <p:sp>
        <p:nvSpPr>
          <p:cNvPr id="14" name="TextBox 13"/>
          <p:cNvSpPr txBox="1"/>
          <p:nvPr/>
        </p:nvSpPr>
        <p:spPr>
          <a:xfrm>
            <a:off x="7406640" y="2606040"/>
            <a:ext cx="265176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M</m:t>
                  </m:r>
                  <m:r>
                    <m:rPr>
                      <m:sty m:val="p"/>
                    </m:rPr>
                    <m:t>=</m:t>
                  </m:r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a</m:t>
                            </m:r>
                          </m:e>
                          <m:e>
                            <m:r>
                              <m:t>b</m:t>
                            </m:r>
                          </m:e>
                        </m:mr>
                        <m:mr>
                          <m:e>
                            <m:r>
                              <m:t>c</m:t>
                            </m:r>
                          </m:e>
                          <m:e>
                            <m:r>
                              <m:t>d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2000" lang="ja-JP"/>
          </a:p>
        </p:txBody>
      </p:sp>
      <p:sp>
        <p:nvSpPr>
          <p:cNvPr id="15" name="TextBox 14"/>
          <p:cNvSpPr txBox="1"/>
          <p:nvPr/>
        </p:nvSpPr>
        <p:spPr>
          <a:xfrm>
            <a:off x="6903720" y="3794760"/>
            <a:ext cx="3657600" cy="6858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第1行はRの変化率
第2行はJの変化率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符号を1個ずつ見るだけでなく，行列全体の固有値で挙動を判断する．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背板形状比較を研究へ育てる流れ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heat_research_pipeline.svg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437589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基準計算
長方形・収支・格子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222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2845" y="1965960"/>
            <a:ext cx="1437589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形状を1つ追加
輪郭・面積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4502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65650" y="1965960"/>
            <a:ext cx="1437589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公平に正規化
同体積など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783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8455" y="1965960"/>
            <a:ext cx="1437589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2形状を比較
同じ色尺度・主指標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9063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1260" y="1965960"/>
            <a:ext cx="1437589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差を検証
数値誤差との大小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01344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34066" y="1965960"/>
            <a:ext cx="1437589" cy="132588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拡張
形態系列・感度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実画像と生成模様を比較する流れ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pattern_research_pipeline.svg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842150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実画像
前処理を固定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26782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7406" y="1965960"/>
            <a:ext cx="184215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生成模様
seed・保存時刻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148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4772" y="1965960"/>
            <a:ext cx="184215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同じ特徴量
面積比・波長など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81514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2138" y="1965960"/>
            <a:ext cx="1842150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距離を比較
粗い探索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608880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29504" y="1965960"/>
            <a:ext cx="1842150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検証
未使用画像・別seed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乗降行動を規則へ変換して比較する流れ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boarding_research_pipeline.svg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437589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観察
位置変化を記録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222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2845" y="1965960"/>
            <a:ext cx="1437589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操作的定義
いつ・どこへ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4502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65650" y="1965960"/>
            <a:ext cx="1437589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擬似コード
競合も記述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783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8455" y="1965960"/>
            <a:ext cx="1437589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小配置テスト
1～3人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9063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1260" y="1965960"/>
            <a:ext cx="1437589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反復比較
同じseed集合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01344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34066" y="1965960"/>
            <a:ext cx="1437589" cy="132588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拡張
割合・人数・感度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物語の観測から関係モデルを検証する流れ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relation_research_pipeline.svg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437589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対象範囲
人物・場面・時間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222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2845" y="1965960"/>
            <a:ext cx="1437589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状態を定義
尺度・不明値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4502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65650" y="1965960"/>
            <a:ext cx="1437589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少量で試す
不一致から修正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783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8455" y="1965960"/>
            <a:ext cx="1437589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2人基準
予測と残差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9063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1260" y="1965960"/>
            <a:ext cx="1437589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1項だけ追加
残差に対応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01344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34066" y="1965960"/>
            <a:ext cx="1437589" cy="132588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検証
未使用場面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4テーマから研究方法を相互に借りる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cross_theme_transfer.svg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7639" y="2148840"/>
            <a:ext cx="4251960" cy="1874519"/>
          </a:xfrm>
          <a:prstGeom prst="roundRect">
            <a:avLst/>
          </a:prstGeom>
          <a:solidFill>
            <a:srgbClr val="EDF3F8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000" b="1">
                <a:solidFill>
                  <a:srgbClr val="21364A"/>
                </a:solidFill>
                <a:latin typeface="Yu Gothic"/>
              </a:rPr>
              <a:t>自分の卒業研究
問い → 最小モデル → 比較
→ 評価指標 → 検証 → 限界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2834640" cy="150876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放熱
公平な比較条件
格子収束・収支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914400"/>
            <a:ext cx="2834640" cy="150876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模様
見た目を特徴量へ
パラメータ地図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2834640" cy="150876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乗降
更新規則への感度
seed反復・分布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4206240"/>
            <a:ext cx="2834640" cy="150876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関係モデル
結合構造・固有値
推定と検証の分離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645920"/>
            <a:ext cx="64008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8183879" y="1645920"/>
            <a:ext cx="640080" cy="320040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383280" y="4846320"/>
            <a:ext cx="64008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183879" y="4846320"/>
            <a:ext cx="640080" cy="320040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