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325880"/>
            <a:ext cx="9994392" cy="1280160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ctr"/>
            <a:r>
              <a:rPr sz="3000" b="1">
                <a:solidFill>
                  <a:srgbClr val="173451"/>
                </a:solidFill>
                <a:latin typeface="Yu Gothic"/>
              </a:rPr>
              <a:t>卒業研究準備セミナー
概念図・編集用元データ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063240"/>
            <a:ext cx="9994392" cy="594360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ctr"/>
            <a:r>
              <a:rPr sz="1800" b="0">
                <a:solidFill>
                  <a:srgbClr val="21364A"/>
                </a:solidFill>
                <a:latin typeface="Yu Gothic"/>
              </a:rPr>
              <a:t>すべての文字・図形・矢印はPowerPoint上で個別に編集できます．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94760"/>
            <a:ext cx="9994392" cy="594360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ctr"/>
            <a:r>
              <a:rPr sz="1600" b="0">
                <a:solidFill>
                  <a:srgbClr val="52677A"/>
                </a:solidFill>
                <a:latin typeface="Yu Gothic"/>
              </a:rPr>
              <a:t>本文表示用SVGと同じ考え方を，編集しやすい図形で再構成しています．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48872" cy="457200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ctr"/>
            <a:r>
              <a:rPr sz="2400" b="1">
                <a:solidFill>
                  <a:srgbClr val="173451"/>
                </a:solidFill>
                <a:latin typeface="Yu Gothic"/>
              </a:rPr>
              <a:t>教材を研究の足場として使う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10528"/>
            <a:ext cx="11548872" cy="201168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52677A"/>
                </a:solidFill>
                <a:latin typeface="Yu Gothic"/>
              </a:rPr>
              <a:t>対応SVG: learning_path.svg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2011680"/>
            <a:ext cx="1842150" cy="1325880"/>
          </a:xfrm>
          <a:prstGeom prst="roundRect">
            <a:avLst/>
          </a:prstGeom>
          <a:solidFill>
            <a:srgbClr val="EAF4FF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500" b="1">
                <a:solidFill>
                  <a:srgbClr val="21364A"/>
                </a:solidFill>
                <a:latin typeface="Yu Gothic"/>
              </a:rPr>
              <a:t>卒研の準備
研究設計・各モデルの入口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326782" y="2532888"/>
            <a:ext cx="256032" cy="283464"/>
          </a:xfrm>
          <a:prstGeom prst="right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7406" y="2011680"/>
            <a:ext cx="1842150" cy="1325880"/>
          </a:xfrm>
          <a:prstGeom prst="roundRect">
            <a:avLst/>
          </a:prstGeom>
          <a:solidFill>
            <a:srgbClr val="EAF8EF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500" b="0">
                <a:solidFill>
                  <a:srgbClr val="21364A"/>
                </a:solidFill>
                <a:latin typeface="Yu Gothic"/>
              </a:rPr>
              <a:t>基礎モデル
最小の式・標準設定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754148" y="2532888"/>
            <a:ext cx="256032" cy="283464"/>
          </a:xfrm>
          <a:prstGeom prst="right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174772" y="2011680"/>
            <a:ext cx="1842150" cy="1325880"/>
          </a:xfrm>
          <a:prstGeom prst="roundRect">
            <a:avLst/>
          </a:prstGeom>
          <a:solidFill>
            <a:srgbClr val="FFF3E1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500" b="0">
                <a:solidFill>
                  <a:srgbClr val="21364A"/>
                </a:solidFill>
                <a:latin typeface="Yu Gothic"/>
              </a:rPr>
              <a:t>研究技能
測る・比較する・検証する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181514" y="2532888"/>
            <a:ext cx="256032" cy="283464"/>
          </a:xfrm>
          <a:prstGeom prst="right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02138" y="2011680"/>
            <a:ext cx="1842150" cy="1325880"/>
          </a:xfrm>
          <a:prstGeom prst="roundRect">
            <a:avLst/>
          </a:prstGeom>
          <a:solidFill>
            <a:srgbClr val="F3EDFF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500" b="0">
                <a:solidFill>
                  <a:srgbClr val="21364A"/>
                </a:solidFill>
                <a:latin typeface="Yu Gothic"/>
              </a:rPr>
              <a:t>ロードマップ
必要な段階を参照する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608880" y="2532888"/>
            <a:ext cx="256032" cy="283464"/>
          </a:xfrm>
          <a:prstGeom prst="right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029504" y="2011680"/>
            <a:ext cx="1842150" cy="1325880"/>
          </a:xfrm>
          <a:prstGeom prst="roundRect">
            <a:avLst/>
          </a:prstGeom>
          <a:solidFill>
            <a:srgbClr val="EAF8F7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500" b="0">
                <a:solidFill>
                  <a:srgbClr val="21364A"/>
                </a:solidFill>
                <a:latin typeface="Yu Gothic"/>
              </a:rPr>
              <a:t>卒業研究
拡張・比較・考察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57600"/>
            <a:ext cx="10908792" cy="502920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ctr"/>
            <a:r>
              <a:rPr sz="1600" b="0">
                <a:solidFill>
                  <a:srgbClr val="52677A"/>
                </a:solidFill>
                <a:latin typeface="Yu Gothic"/>
              </a:rPr>
              <a:t>問題が見つかったら，基礎モデルや研究技能へ戻る．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48872" cy="457200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ctr"/>
            <a:r>
              <a:rPr sz="2400" b="1">
                <a:solidFill>
                  <a:srgbClr val="173451"/>
                </a:solidFill>
                <a:latin typeface="Yu Gothic"/>
              </a:rPr>
              <a:t>数理モデリングは検証しながら戻る循環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10528"/>
            <a:ext cx="11548872" cy="201168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52677A"/>
                </a:solidFill>
                <a:latin typeface="Yu Gothic"/>
              </a:rPr>
              <a:t>対応SVG: research_cycle.svg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325880"/>
            <a:ext cx="2448991" cy="1325880"/>
          </a:xfrm>
          <a:prstGeom prst="roundRect">
            <a:avLst/>
          </a:prstGeom>
          <a:solidFill>
            <a:srgbClr val="EAF4FF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500" b="1">
                <a:solidFill>
                  <a:srgbClr val="21364A"/>
                </a:solidFill>
                <a:latin typeface="Yu Gothic"/>
              </a:rPr>
              <a:t>現象と問い
何を比較するか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933623" y="1847088"/>
            <a:ext cx="256032" cy="283464"/>
          </a:xfrm>
          <a:prstGeom prst="right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54247" y="1325880"/>
            <a:ext cx="2448991" cy="1325880"/>
          </a:xfrm>
          <a:prstGeom prst="roundRect">
            <a:avLst/>
          </a:prstGeom>
          <a:solidFill>
            <a:srgbClr val="EAF8EF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500" b="0">
                <a:solidFill>
                  <a:srgbClr val="21364A"/>
                </a:solidFill>
                <a:latin typeface="Yu Gothic"/>
              </a:rPr>
              <a:t>状態と仮定
何を残すか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67831" y="1847088"/>
            <a:ext cx="256032" cy="283464"/>
          </a:xfrm>
          <a:prstGeom prst="right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88455" y="1325880"/>
            <a:ext cx="2448991" cy="1325880"/>
          </a:xfrm>
          <a:prstGeom prst="roundRect">
            <a:avLst/>
          </a:prstGeom>
          <a:solidFill>
            <a:srgbClr val="FFF3E1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500" b="0">
                <a:solidFill>
                  <a:srgbClr val="21364A"/>
                </a:solidFill>
                <a:latin typeface="Yu Gothic"/>
              </a:rPr>
              <a:t>最小モデル
式・更新規則</a:t>
            </a:r>
          </a:p>
        </p:txBody>
      </p:sp>
      <p:sp>
        <p:nvSpPr>
          <p:cNvPr id="9" name="Right Arrow 8"/>
          <p:cNvSpPr/>
          <p:nvPr/>
        </p:nvSpPr>
        <p:spPr>
          <a:xfrm>
            <a:off x="9002039" y="1847088"/>
            <a:ext cx="256032" cy="283464"/>
          </a:xfrm>
          <a:prstGeom prst="right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422663" y="1325880"/>
            <a:ext cx="2448991" cy="1325880"/>
          </a:xfrm>
          <a:prstGeom prst="roundRect">
            <a:avLst/>
          </a:prstGeom>
          <a:solidFill>
            <a:srgbClr val="F3EDFF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500" b="0">
                <a:solidFill>
                  <a:srgbClr val="21364A"/>
                </a:solidFill>
                <a:latin typeface="Yu Gothic"/>
              </a:rPr>
              <a:t>数値実験
条件を1つ変える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3886200"/>
            <a:ext cx="3460394" cy="1325880"/>
          </a:xfrm>
          <a:prstGeom prst="roundRect">
            <a:avLst/>
          </a:prstGeom>
          <a:solidFill>
            <a:srgbClr val="EAF4FF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500" b="1">
                <a:solidFill>
                  <a:srgbClr val="21364A"/>
                </a:solidFill>
                <a:latin typeface="Yu Gothic"/>
              </a:rPr>
              <a:t>妥当性と限界
どこまで言えるか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945026" y="4407408"/>
            <a:ext cx="256032" cy="283464"/>
          </a:xfrm>
          <a:prstGeom prst="right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65650" y="3886200"/>
            <a:ext cx="3460394" cy="1325880"/>
          </a:xfrm>
          <a:prstGeom prst="roundRect">
            <a:avLst/>
          </a:prstGeom>
          <a:solidFill>
            <a:srgbClr val="EAF8EF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500" b="0">
                <a:solidFill>
                  <a:srgbClr val="21364A"/>
                </a:solidFill>
                <a:latin typeface="Yu Gothic"/>
              </a:rPr>
              <a:t>検証
誤差・再現性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990636" y="4407408"/>
            <a:ext cx="256032" cy="283464"/>
          </a:xfrm>
          <a:prstGeom prst="right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1260" y="3886200"/>
            <a:ext cx="3460394" cy="1325880"/>
          </a:xfrm>
          <a:prstGeom prst="roundRect">
            <a:avLst/>
          </a:prstGeom>
          <a:solidFill>
            <a:srgbClr val="FFF3E1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500" b="0">
                <a:solidFill>
                  <a:srgbClr val="21364A"/>
                </a:solidFill>
                <a:latin typeface="Yu Gothic"/>
              </a:rPr>
              <a:t>評価指標
図を数値へ変える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532120"/>
            <a:ext cx="10908792" cy="502920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ctr"/>
            <a:r>
              <a:rPr sz="1600" b="0">
                <a:solidFill>
                  <a:srgbClr val="52677A"/>
                </a:solidFill>
                <a:latin typeface="Yu Gothic"/>
              </a:rPr>
              <a:t>結果が問いに答えなければ，状態変数・仮定・比較条件を見直す．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10789920" y="2788920"/>
            <a:ext cx="320040" cy="640080"/>
          </a:xfrm>
          <a:prstGeom prst="down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Up Arrow 17"/>
          <p:cNvSpPr/>
          <p:nvPr/>
        </p:nvSpPr>
        <p:spPr>
          <a:xfrm>
            <a:off x="960120" y="2788920"/>
            <a:ext cx="320040" cy="640080"/>
          </a:xfrm>
          <a:prstGeom prst="up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48872" cy="457200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ctr"/>
            <a:r>
              <a:rPr sz="2400" b="1">
                <a:solidFill>
                  <a:srgbClr val="173451"/>
                </a:solidFill>
                <a:latin typeface="Yu Gothic"/>
              </a:rPr>
              <a:t>2次元ラプラシアンの5点差分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10528"/>
            <a:ext cx="11548872" cy="201168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52677A"/>
                </a:solidFill>
                <a:latin typeface="Yu Gothic"/>
              </a:rPr>
              <a:t>対応SVG: pde_five_point_stencil.svg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713232" cy="713232"/>
          </a:xfrm>
          <a:prstGeom prst="rect">
            <a:avLst/>
          </a:prstGeom>
          <a:solidFill>
            <a:srgbClr val="FFFFFF"/>
          </a:solidFill>
          <a:ln>
            <a:solidFill>
              <a:srgbClr val="A8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07592" y="1051560"/>
            <a:ext cx="713232" cy="713232"/>
          </a:xfrm>
          <a:prstGeom prst="rect">
            <a:avLst/>
          </a:prstGeom>
          <a:solidFill>
            <a:srgbClr val="FFFFFF"/>
          </a:solidFill>
          <a:ln>
            <a:solidFill>
              <a:srgbClr val="A8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20824" y="1051560"/>
            <a:ext cx="713232" cy="713232"/>
          </a:xfrm>
          <a:prstGeom prst="rect">
            <a:avLst/>
          </a:prstGeom>
          <a:solidFill>
            <a:srgbClr val="FFFFFF"/>
          </a:solidFill>
          <a:ln>
            <a:solidFill>
              <a:srgbClr val="A8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34056" y="1051560"/>
            <a:ext cx="713232" cy="713232"/>
          </a:xfrm>
          <a:prstGeom prst="rect">
            <a:avLst/>
          </a:prstGeom>
          <a:solidFill>
            <a:srgbClr val="FFFFFF"/>
          </a:solidFill>
          <a:ln>
            <a:solidFill>
              <a:srgbClr val="A8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47288" y="1051560"/>
            <a:ext cx="713232" cy="713232"/>
          </a:xfrm>
          <a:prstGeom prst="rect">
            <a:avLst/>
          </a:prstGeom>
          <a:solidFill>
            <a:srgbClr val="FFFFFF"/>
          </a:solidFill>
          <a:ln>
            <a:solidFill>
              <a:srgbClr val="A8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764792"/>
            <a:ext cx="713232" cy="713232"/>
          </a:xfrm>
          <a:prstGeom prst="rect">
            <a:avLst/>
          </a:prstGeom>
          <a:solidFill>
            <a:srgbClr val="FFFFFF"/>
          </a:solidFill>
          <a:ln>
            <a:solidFill>
              <a:srgbClr val="A8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07592" y="1764792"/>
            <a:ext cx="713232" cy="713232"/>
          </a:xfrm>
          <a:prstGeom prst="rect">
            <a:avLst/>
          </a:prstGeom>
          <a:solidFill>
            <a:srgbClr val="FFFFFF"/>
          </a:solidFill>
          <a:ln>
            <a:solidFill>
              <a:srgbClr val="A8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20824" y="1764792"/>
            <a:ext cx="713232" cy="713232"/>
          </a:xfrm>
          <a:prstGeom prst="rect">
            <a:avLst/>
          </a:prstGeom>
          <a:solidFill>
            <a:srgbClr val="FFFFFF"/>
          </a:solidFill>
          <a:ln>
            <a:solidFill>
              <a:srgbClr val="A8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34056" y="1764792"/>
            <a:ext cx="713232" cy="713232"/>
          </a:xfrm>
          <a:prstGeom prst="rect">
            <a:avLst/>
          </a:prstGeom>
          <a:solidFill>
            <a:srgbClr val="FFFFFF"/>
          </a:solidFill>
          <a:ln>
            <a:solidFill>
              <a:srgbClr val="A8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47288" y="1764792"/>
            <a:ext cx="713232" cy="713232"/>
          </a:xfrm>
          <a:prstGeom prst="rect">
            <a:avLst/>
          </a:prstGeom>
          <a:solidFill>
            <a:srgbClr val="FFFFFF"/>
          </a:solidFill>
          <a:ln>
            <a:solidFill>
              <a:srgbClr val="A8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478024"/>
            <a:ext cx="713232" cy="713232"/>
          </a:xfrm>
          <a:prstGeom prst="rect">
            <a:avLst/>
          </a:prstGeom>
          <a:solidFill>
            <a:srgbClr val="FFFFFF"/>
          </a:solidFill>
          <a:ln>
            <a:solidFill>
              <a:srgbClr val="A8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07592" y="2478024"/>
            <a:ext cx="713232" cy="713232"/>
          </a:xfrm>
          <a:prstGeom prst="rect">
            <a:avLst/>
          </a:prstGeom>
          <a:solidFill>
            <a:srgbClr val="FFFFFF"/>
          </a:solidFill>
          <a:ln>
            <a:solidFill>
              <a:srgbClr val="A8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20824" y="2478024"/>
            <a:ext cx="713232" cy="713232"/>
          </a:xfrm>
          <a:prstGeom prst="rect">
            <a:avLst/>
          </a:prstGeom>
          <a:solidFill>
            <a:srgbClr val="FFFFFF"/>
          </a:solidFill>
          <a:ln>
            <a:solidFill>
              <a:srgbClr val="A8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34056" y="2478024"/>
            <a:ext cx="713232" cy="713232"/>
          </a:xfrm>
          <a:prstGeom prst="rect">
            <a:avLst/>
          </a:prstGeom>
          <a:solidFill>
            <a:srgbClr val="FFFFFF"/>
          </a:solidFill>
          <a:ln>
            <a:solidFill>
              <a:srgbClr val="A8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47288" y="2478024"/>
            <a:ext cx="713232" cy="713232"/>
          </a:xfrm>
          <a:prstGeom prst="rect">
            <a:avLst/>
          </a:prstGeom>
          <a:solidFill>
            <a:srgbClr val="FFFFFF"/>
          </a:solidFill>
          <a:ln>
            <a:solidFill>
              <a:srgbClr val="A8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3191256"/>
            <a:ext cx="713232" cy="713232"/>
          </a:xfrm>
          <a:prstGeom prst="rect">
            <a:avLst/>
          </a:prstGeom>
          <a:solidFill>
            <a:srgbClr val="FFFFFF"/>
          </a:solidFill>
          <a:ln>
            <a:solidFill>
              <a:srgbClr val="A8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07592" y="3191256"/>
            <a:ext cx="713232" cy="713232"/>
          </a:xfrm>
          <a:prstGeom prst="rect">
            <a:avLst/>
          </a:prstGeom>
          <a:solidFill>
            <a:srgbClr val="FFFFFF"/>
          </a:solidFill>
          <a:ln>
            <a:solidFill>
              <a:srgbClr val="A8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020824" y="3191256"/>
            <a:ext cx="713232" cy="713232"/>
          </a:xfrm>
          <a:prstGeom prst="rect">
            <a:avLst/>
          </a:prstGeom>
          <a:solidFill>
            <a:srgbClr val="FFFFFF"/>
          </a:solidFill>
          <a:ln>
            <a:solidFill>
              <a:srgbClr val="A8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34056" y="3191256"/>
            <a:ext cx="713232" cy="713232"/>
          </a:xfrm>
          <a:prstGeom prst="rect">
            <a:avLst/>
          </a:prstGeom>
          <a:solidFill>
            <a:srgbClr val="FFFFFF"/>
          </a:solidFill>
          <a:ln>
            <a:solidFill>
              <a:srgbClr val="A8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47288" y="3191256"/>
            <a:ext cx="713232" cy="713232"/>
          </a:xfrm>
          <a:prstGeom prst="rect">
            <a:avLst/>
          </a:prstGeom>
          <a:solidFill>
            <a:srgbClr val="FFFFFF"/>
          </a:solidFill>
          <a:ln>
            <a:solidFill>
              <a:srgbClr val="A8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" y="3904487"/>
            <a:ext cx="713232" cy="713232"/>
          </a:xfrm>
          <a:prstGeom prst="rect">
            <a:avLst/>
          </a:prstGeom>
          <a:solidFill>
            <a:srgbClr val="FFFFFF"/>
          </a:solidFill>
          <a:ln>
            <a:solidFill>
              <a:srgbClr val="A8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307592" y="3904487"/>
            <a:ext cx="713232" cy="713232"/>
          </a:xfrm>
          <a:prstGeom prst="rect">
            <a:avLst/>
          </a:prstGeom>
          <a:solidFill>
            <a:srgbClr val="FFFFFF"/>
          </a:solidFill>
          <a:ln>
            <a:solidFill>
              <a:srgbClr val="A8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20824" y="3904487"/>
            <a:ext cx="713232" cy="713232"/>
          </a:xfrm>
          <a:prstGeom prst="rect">
            <a:avLst/>
          </a:prstGeom>
          <a:solidFill>
            <a:srgbClr val="FFFFFF"/>
          </a:solidFill>
          <a:ln>
            <a:solidFill>
              <a:srgbClr val="A8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34056" y="3904487"/>
            <a:ext cx="713232" cy="713232"/>
          </a:xfrm>
          <a:prstGeom prst="rect">
            <a:avLst/>
          </a:prstGeom>
          <a:solidFill>
            <a:srgbClr val="FFFFFF"/>
          </a:solidFill>
          <a:ln>
            <a:solidFill>
              <a:srgbClr val="A8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47288" y="3904487"/>
            <a:ext cx="713232" cy="713232"/>
          </a:xfrm>
          <a:prstGeom prst="rect">
            <a:avLst/>
          </a:prstGeom>
          <a:solidFill>
            <a:srgbClr val="FFFFFF"/>
          </a:solidFill>
          <a:ln>
            <a:solidFill>
              <a:srgbClr val="A8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130552" y="2587752"/>
            <a:ext cx="493776" cy="493776"/>
          </a:xfrm>
          <a:prstGeom prst="ellipse">
            <a:avLst/>
          </a:prstGeom>
          <a:solidFill>
            <a:srgbClr val="FFDB8A"/>
          </a:solidFill>
          <a:ln w="22860">
            <a:solidFill>
              <a:srgbClr val="397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300" b="1">
                <a:solidFill>
                  <a:srgbClr val="21364A"/>
                </a:solidFill>
                <a:latin typeface="Yu Gothic"/>
              </a:rPr>
              <a:t>uᵢⱼ</a:t>
            </a:r>
          </a:p>
        </p:txBody>
      </p:sp>
      <p:sp>
        <p:nvSpPr>
          <p:cNvPr id="30" name="Oval 29"/>
          <p:cNvSpPr/>
          <p:nvPr/>
        </p:nvSpPr>
        <p:spPr>
          <a:xfrm>
            <a:off x="2130552" y="1874519"/>
            <a:ext cx="493776" cy="493776"/>
          </a:xfrm>
          <a:prstGeom prst="ellipse">
            <a:avLst/>
          </a:prstGeom>
          <a:solidFill>
            <a:srgbClr val="DCEEFF"/>
          </a:solidFill>
          <a:ln w="22860">
            <a:solidFill>
              <a:srgbClr val="397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300" b="1">
                <a:solidFill>
                  <a:srgbClr val="21364A"/>
                </a:solidFill>
                <a:latin typeface="Yu Gothic"/>
              </a:rPr>
              <a:t>上</a:t>
            </a:r>
          </a:p>
        </p:txBody>
      </p:sp>
      <p:sp>
        <p:nvSpPr>
          <p:cNvPr id="31" name="Oval 30"/>
          <p:cNvSpPr/>
          <p:nvPr/>
        </p:nvSpPr>
        <p:spPr>
          <a:xfrm>
            <a:off x="2130552" y="3300984"/>
            <a:ext cx="493776" cy="493776"/>
          </a:xfrm>
          <a:prstGeom prst="ellipse">
            <a:avLst/>
          </a:prstGeom>
          <a:solidFill>
            <a:srgbClr val="DCEEFF"/>
          </a:solidFill>
          <a:ln w="22860">
            <a:solidFill>
              <a:srgbClr val="397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300" b="1">
                <a:solidFill>
                  <a:srgbClr val="21364A"/>
                </a:solidFill>
                <a:latin typeface="Yu Gothic"/>
              </a:rPr>
              <a:t>下</a:t>
            </a:r>
          </a:p>
        </p:txBody>
      </p:sp>
      <p:sp>
        <p:nvSpPr>
          <p:cNvPr id="32" name="Oval 31"/>
          <p:cNvSpPr/>
          <p:nvPr/>
        </p:nvSpPr>
        <p:spPr>
          <a:xfrm>
            <a:off x="1417320" y="2587752"/>
            <a:ext cx="493776" cy="493776"/>
          </a:xfrm>
          <a:prstGeom prst="ellipse">
            <a:avLst/>
          </a:prstGeom>
          <a:solidFill>
            <a:srgbClr val="DCEEFF"/>
          </a:solidFill>
          <a:ln w="22860">
            <a:solidFill>
              <a:srgbClr val="397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300" b="1">
                <a:solidFill>
                  <a:srgbClr val="21364A"/>
                </a:solidFill>
                <a:latin typeface="Yu Gothic"/>
              </a:rPr>
              <a:t>左</a:t>
            </a:r>
          </a:p>
        </p:txBody>
      </p:sp>
      <p:sp>
        <p:nvSpPr>
          <p:cNvPr id="33" name="Oval 32"/>
          <p:cNvSpPr/>
          <p:nvPr/>
        </p:nvSpPr>
        <p:spPr>
          <a:xfrm>
            <a:off x="2843784" y="2587752"/>
            <a:ext cx="493776" cy="493776"/>
          </a:xfrm>
          <a:prstGeom prst="ellipse">
            <a:avLst/>
          </a:prstGeom>
          <a:solidFill>
            <a:srgbClr val="DCEEFF"/>
          </a:solidFill>
          <a:ln w="22860">
            <a:solidFill>
              <a:srgbClr val="397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300" b="1">
                <a:solidFill>
                  <a:srgbClr val="21364A"/>
                </a:solidFill>
                <a:latin typeface="Yu Gothic"/>
              </a:rPr>
              <a:t>右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00600" y="1417320"/>
            <a:ext cx="6492240" cy="1280160"/>
          </a:xfrm>
          <a:prstGeom prst="roundRect">
            <a:avLst/>
          </a:prstGeom>
          <a:solidFill>
            <a:srgbClr val="EAF4FF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2100" b="1">
                <a:solidFill>
                  <a:srgbClr val="21364A"/>
                </a:solidFill>
                <a:latin typeface="Yu Gothic"/>
              </a:rPr>
              <a:t>Δuᵢⱼ ≈
(右 + 左 + 上 + 下 − 4×中央) / Δx²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800600" y="3154680"/>
            <a:ext cx="3063240" cy="1143000"/>
          </a:xfrm>
          <a:prstGeom prst="roundRect">
            <a:avLst/>
          </a:prstGeom>
          <a:solidFill>
            <a:srgbClr val="FFF3E1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700" b="0">
                <a:solidFill>
                  <a:srgbClr val="21364A"/>
                </a:solidFill>
                <a:latin typeface="Yu Gothic"/>
              </a:rPr>
              <a:t>中央が周囲より高い
→ Δu &lt; 0 → 次に下がる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0" y="3154680"/>
            <a:ext cx="3063240" cy="1143000"/>
          </a:xfrm>
          <a:prstGeom prst="roundRect">
            <a:avLst/>
          </a:prstGeom>
          <a:solidFill>
            <a:srgbClr val="EAF8EF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700" b="0">
                <a:solidFill>
                  <a:srgbClr val="21364A"/>
                </a:solidFill>
                <a:latin typeface="Yu Gothic"/>
              </a:rPr>
              <a:t>中央が周囲より低い
→ Δu &gt; 0 → 次に上がる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00600" y="4709160"/>
            <a:ext cx="6492240" cy="502920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ctr"/>
            <a:r>
              <a:rPr sz="1700" b="0">
                <a:solidFill>
                  <a:srgbClr val="52677A"/>
                </a:solidFill>
                <a:latin typeface="Yu Gothic"/>
              </a:rPr>
              <a:t>中央と上下左右の4点を参照する．斜め4点は含めない．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48872" cy="457200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ctr"/>
            <a:r>
              <a:rPr sz="2400" b="1">
                <a:solidFill>
                  <a:srgbClr val="173451"/>
                </a:solidFill>
                <a:latin typeface="Yu Gothic"/>
              </a:rPr>
              <a:t>反応拡散 = 各点の反応 + 点どうしの拡散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10528"/>
            <a:ext cx="11548872" cy="201168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52677A"/>
                </a:solidFill>
                <a:latin typeface="Yu Gothic"/>
              </a:rPr>
              <a:t>対応SVG: reaction_diffusion_parts.svg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3063240" cy="2103120"/>
          </a:xfrm>
          <a:prstGeom prst="roundRect">
            <a:avLst/>
          </a:prstGeom>
          <a:solidFill>
            <a:srgbClr val="FFF3E1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900" b="1">
                <a:solidFill>
                  <a:srgbClr val="21364A"/>
                </a:solidFill>
                <a:latin typeface="Yu Gothic"/>
              </a:rPr>
              <a:t>反応だけ
各場所で2変数ODEが進む
u ⇄ 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03320" y="2011680"/>
            <a:ext cx="502920" cy="548640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60798E"/>
                </a:solidFill>
                <a:latin typeface="Yu Gothic"/>
              </a:rPr>
              <a:t>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17320"/>
            <a:ext cx="3063240" cy="2103120"/>
          </a:xfrm>
          <a:prstGeom prst="roundRect">
            <a:avLst/>
          </a:prstGeom>
          <a:solidFill>
            <a:srgbClr val="EAF4FF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900" b="1">
                <a:solidFill>
                  <a:srgbClr val="21364A"/>
                </a:solidFill>
                <a:latin typeface="Yu Gothic"/>
              </a:rPr>
              <a:t>拡散だけ
高い場所から低い場所へ広がる
空間差をならす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543800" y="2240280"/>
            <a:ext cx="548640" cy="320040"/>
          </a:xfrm>
          <a:prstGeom prst="right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75320" y="1417320"/>
            <a:ext cx="3337560" cy="2103120"/>
          </a:xfrm>
          <a:prstGeom prst="roundRect">
            <a:avLst/>
          </a:prstGeom>
          <a:solidFill>
            <a:srgbClr val="F3EDFF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900" b="1">
                <a:solidFill>
                  <a:srgbClr val="21364A"/>
                </a:solidFill>
                <a:latin typeface="Yu Gothic"/>
              </a:rPr>
              <a:t>組合せ
特定の空間スケールが成長
斑点・縞・迷路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10360152" cy="594360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ctr"/>
            <a:r>
              <a:rPr sz="1800" b="0">
                <a:solidFill>
                  <a:srgbClr val="52677A"/>
                </a:solidFill>
                <a:latin typeface="Yu Gothic"/>
              </a:rPr>
              <a:t>式を読むときは，まず反応だけ・拡散だけの場合を分けて考える．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48872" cy="457200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ctr"/>
            <a:r>
              <a:rPr sz="2400" b="1">
                <a:solidFill>
                  <a:srgbClr val="173451"/>
                </a:solidFill>
                <a:latin typeface="Yu Gothic"/>
              </a:rPr>
              <a:t>逐次更新と一斉更新の違い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10528"/>
            <a:ext cx="11548872" cy="201168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52677A"/>
                </a:solidFill>
                <a:latin typeface="Yu Gothic"/>
              </a:rPr>
              <a:t>対応SVG: agent_update_modes.svg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3246120" cy="2194560"/>
          </a:xfrm>
          <a:prstGeom prst="roundRect">
            <a:avLst/>
          </a:prstGeom>
          <a:solidFill>
            <a:srgbClr val="EAF4FF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900" b="1">
                <a:solidFill>
                  <a:srgbClr val="21364A"/>
                </a:solidFill>
                <a:latin typeface="Yu Gothic"/>
              </a:rPr>
              <a:t>更新前
A → □ ← B
2人が中央セルを希望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886200" y="2240280"/>
            <a:ext cx="502920" cy="320040"/>
          </a:xfrm>
          <a:prstGeom prst="right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26280" y="1325880"/>
            <a:ext cx="2971800" cy="2194560"/>
          </a:xfrm>
          <a:prstGeom prst="roundRect">
            <a:avLst/>
          </a:prstGeom>
          <a:solidFill>
            <a:srgbClr val="EAF8EF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900" b="1">
                <a:solidFill>
                  <a:srgbClr val="21364A"/>
                </a:solidFill>
                <a:latin typeface="Yu Gothic"/>
              </a:rPr>
              <a:t>逐次更新
Aを先に処理
Aが中央を確保する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635240" y="2240280"/>
            <a:ext cx="502920" cy="320040"/>
          </a:xfrm>
          <a:prstGeom prst="right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75320" y="1325880"/>
            <a:ext cx="3383280" cy="2194560"/>
          </a:xfrm>
          <a:prstGeom prst="roundRect">
            <a:avLst/>
          </a:prstGeom>
          <a:solidFill>
            <a:srgbClr val="F3EDFF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900" b="1">
                <a:solidFill>
                  <a:srgbClr val="21364A"/>
                </a:solidFill>
                <a:latin typeface="Yu Gothic"/>
              </a:rPr>
              <a:t>一斉更新
全員の希望を集める
競合規則で結果を決める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725912" cy="640080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ctr"/>
            <a:r>
              <a:rPr sz="1800" b="0">
                <a:solidFill>
                  <a:srgbClr val="52677A"/>
                </a:solidFill>
                <a:latin typeface="Yu Gothic"/>
              </a:rPr>
              <a:t>更新順序は実装上の都合ではなく，明記すべきモデルの仮定である．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48872" cy="457200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ctr"/>
            <a:r>
              <a:rPr sz="2400" b="1">
                <a:solidFill>
                  <a:srgbClr val="173451"/>
                </a:solidFill>
                <a:latin typeface="Yu Gothic"/>
              </a:rPr>
              <a:t>有向グラフと隣接行列の対応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10528"/>
            <a:ext cx="11548872" cy="201168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52677A"/>
                </a:solidFill>
                <a:latin typeface="Yu Gothic"/>
              </a:rPr>
              <a:t>対応SVG: network_matrix_graph.svg</a:t>
            </a:r>
          </a:p>
        </p:txBody>
      </p:sp>
      <p:sp>
        <p:nvSpPr>
          <p:cNvPr id="4" name="Oval 3"/>
          <p:cNvSpPr/>
          <p:nvPr/>
        </p:nvSpPr>
        <p:spPr>
          <a:xfrm>
            <a:off x="1783080" y="1143000"/>
            <a:ext cx="914400" cy="914400"/>
          </a:xfrm>
          <a:prstGeom prst="ellipse">
            <a:avLst/>
          </a:prstGeom>
          <a:solidFill>
            <a:srgbClr val="EAF4FF"/>
          </a:solidFill>
          <a:ln w="2286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900" b="1">
                <a:solidFill>
                  <a:srgbClr val="21364A"/>
                </a:solidFill>
                <a:latin typeface="Yu Gothic"/>
              </a:rPr>
              <a:t>1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3474720"/>
            <a:ext cx="914400" cy="914400"/>
          </a:xfrm>
          <a:prstGeom prst="ellipse">
            <a:avLst/>
          </a:prstGeom>
          <a:solidFill>
            <a:srgbClr val="EAF8EF"/>
          </a:solidFill>
          <a:ln w="2286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900" b="1">
                <a:solidFill>
                  <a:srgbClr val="21364A"/>
                </a:solidFill>
                <a:latin typeface="Yu Gothic"/>
              </a:rP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2880360" y="3474720"/>
            <a:ext cx="914400" cy="914400"/>
          </a:xfrm>
          <a:prstGeom prst="ellipse">
            <a:avLst/>
          </a:prstGeom>
          <a:solidFill>
            <a:srgbClr val="FFF3E1"/>
          </a:solidFill>
          <a:ln w="2286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900" b="1">
                <a:solidFill>
                  <a:srgbClr val="21364A"/>
                </a:solidFill>
                <a:latin typeface="Yu Gothic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2286000"/>
            <a:ext cx="22860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600" b="0">
                <a:solidFill>
                  <a:srgbClr val="21364A"/>
                </a:solidFill>
                <a:latin typeface="Yu Gothic"/>
              </a:rPr>
              <a:t>2 → 1 : 0.8
3 → 2 : 1.0
1 → 3 : 0.5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325880"/>
            <a:ext cx="6309360" cy="2057400"/>
          </a:xfrm>
          <a:prstGeom prst="roundRect">
            <a:avLst/>
          </a:prstGeom>
          <a:solidFill>
            <a:srgbClr val="EAF4FF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2200" b="1">
                <a:solidFill>
                  <a:srgbClr val="21364A"/>
                </a:solidFill>
                <a:latin typeface="Yu Gothic"/>
              </a:rPr>
              <a:t>A = ⎛ 0    0.8   0  ⎞
    ⎜ 0     0   1.0 ⎟
    ⎝0.5    0    0  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7800" y="3840480"/>
            <a:ext cx="4937760" cy="1051560"/>
          </a:xfrm>
          <a:prstGeom prst="roundRect">
            <a:avLst/>
          </a:prstGeom>
          <a:solidFill>
            <a:srgbClr val="EAF8EF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800" b="0">
                <a:solidFill>
                  <a:srgbClr val="21364A"/>
                </a:solidFill>
                <a:latin typeface="Yu Gothic"/>
              </a:rPr>
              <a:t>(A x)₁ = 0.8 x₂
第1行は頂点1へ入る影響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86400"/>
            <a:ext cx="10725912" cy="502920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ctr"/>
            <a:r>
              <a:rPr sz="1700" b="0">
                <a:solidFill>
                  <a:srgbClr val="52677A"/>
                </a:solidFill>
                <a:latin typeface="Yu Gothic"/>
              </a:rPr>
              <a:t>Aᵢⱼ は頂点 j から頂点 i への影響．列が出発点，行が到着点．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48872" cy="457200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ctr"/>
            <a:r>
              <a:rPr sz="2400" b="1">
                <a:solidFill>
                  <a:srgbClr val="173451"/>
                </a:solidFill>
                <a:latin typeface="Yu Gothic"/>
              </a:rPr>
              <a:t>1次元フィンの熱収支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10528"/>
            <a:ext cx="11548872" cy="201168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52677A"/>
                </a:solidFill>
                <a:latin typeface="Yu Gothic"/>
              </a:rPr>
              <a:t>対応SVG: fin_heat_balance.svg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1280160" cy="1920240"/>
          </a:xfrm>
          <a:prstGeom prst="roundRect">
            <a:avLst/>
          </a:prstGeom>
          <a:solidFill>
            <a:srgbClr val="E85F49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2000" b="1">
                <a:solidFill>
                  <a:srgbClr val="21364A"/>
                </a:solidFill>
                <a:latin typeface="Yu Gothic"/>
              </a:rPr>
              <a:t>体部
T = Tᵦ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103120"/>
            <a:ext cx="8686800" cy="1325880"/>
          </a:xfrm>
          <a:prstGeom prst="rect">
            <a:avLst/>
          </a:prstGeom>
          <a:solidFill>
            <a:srgbClr val="FFF0D0"/>
          </a:solidFill>
          <a:ln w="19050">
            <a:solidFill>
              <a:srgbClr val="A178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2200" b="1">
                <a:solidFill>
                  <a:srgbClr val="21364A"/>
                </a:solidFill>
                <a:latin typeface="Yu Gothic"/>
              </a:rPr>
              <a:t>フィン内部の熱伝導
−kA dT/dx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417320" y="2560320"/>
            <a:ext cx="914400" cy="320040"/>
          </a:xfrm>
          <a:prstGeom prst="rightArrow">
            <a:avLst/>
          </a:prstGeom>
          <a:solidFill>
            <a:srgbClr val="D65D47"/>
          </a:solidFill>
          <a:ln>
            <a:solidFill>
              <a:srgbClr val="D65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Up Arrow 6"/>
          <p:cNvSpPr/>
          <p:nvPr/>
        </p:nvSpPr>
        <p:spPr>
          <a:xfrm>
            <a:off x="2834640" y="1234440"/>
            <a:ext cx="320040" cy="685800"/>
          </a:xfrm>
          <a:prstGeom prst="up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own Arrow 7"/>
          <p:cNvSpPr/>
          <p:nvPr/>
        </p:nvSpPr>
        <p:spPr>
          <a:xfrm>
            <a:off x="2834640" y="3611880"/>
            <a:ext cx="320040" cy="685800"/>
          </a:xfrm>
          <a:prstGeom prst="down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Up Arrow 8"/>
          <p:cNvSpPr/>
          <p:nvPr/>
        </p:nvSpPr>
        <p:spPr>
          <a:xfrm>
            <a:off x="4572000" y="1234440"/>
            <a:ext cx="320040" cy="685800"/>
          </a:xfrm>
          <a:prstGeom prst="up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wn Arrow 9"/>
          <p:cNvSpPr/>
          <p:nvPr/>
        </p:nvSpPr>
        <p:spPr>
          <a:xfrm>
            <a:off x="4572000" y="3611880"/>
            <a:ext cx="320040" cy="685800"/>
          </a:xfrm>
          <a:prstGeom prst="down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Up Arrow 10"/>
          <p:cNvSpPr/>
          <p:nvPr/>
        </p:nvSpPr>
        <p:spPr>
          <a:xfrm>
            <a:off x="6309360" y="1234440"/>
            <a:ext cx="320040" cy="685800"/>
          </a:xfrm>
          <a:prstGeom prst="up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wn Arrow 11"/>
          <p:cNvSpPr/>
          <p:nvPr/>
        </p:nvSpPr>
        <p:spPr>
          <a:xfrm>
            <a:off x="6309360" y="3611880"/>
            <a:ext cx="320040" cy="685800"/>
          </a:xfrm>
          <a:prstGeom prst="down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Up Arrow 12"/>
          <p:cNvSpPr/>
          <p:nvPr/>
        </p:nvSpPr>
        <p:spPr>
          <a:xfrm>
            <a:off x="8046720" y="1234440"/>
            <a:ext cx="320040" cy="685800"/>
          </a:xfrm>
          <a:prstGeom prst="up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8046720" y="3611880"/>
            <a:ext cx="320040" cy="685800"/>
          </a:xfrm>
          <a:prstGeom prst="down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Up Arrow 14"/>
          <p:cNvSpPr/>
          <p:nvPr/>
        </p:nvSpPr>
        <p:spPr>
          <a:xfrm>
            <a:off x="9784080" y="1234440"/>
            <a:ext cx="320040" cy="685800"/>
          </a:xfrm>
          <a:prstGeom prst="up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wn Arrow 15"/>
          <p:cNvSpPr/>
          <p:nvPr/>
        </p:nvSpPr>
        <p:spPr>
          <a:xfrm>
            <a:off x="9784080" y="3611880"/>
            <a:ext cx="320040" cy="685800"/>
          </a:xfrm>
          <a:prstGeom prst="down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868680"/>
            <a:ext cx="7132320" cy="411480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21364A"/>
                </a:solidFill>
                <a:latin typeface="Yu Gothic"/>
              </a:rPr>
              <a:t>表面から対流 hP(T − T∞)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892040"/>
            <a:ext cx="9509760" cy="594360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ctr"/>
            <a:r>
              <a:rPr sz="1800" b="0">
                <a:solidFill>
                  <a:srgbClr val="52677A"/>
                </a:solidFill>
                <a:latin typeface="Yu Gothic"/>
              </a:rPr>
              <a:t>先へ進むほど熱が周囲へ失われ，温度差が小さくなる．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48872" cy="457200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ctr"/>
            <a:r>
              <a:rPr sz="2400" b="1">
                <a:solidFill>
                  <a:srgbClr val="173451"/>
                </a:solidFill>
                <a:latin typeface="Yu Gothic"/>
              </a:rPr>
              <a:t>薄板モデルの領域と境界条件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10528"/>
            <a:ext cx="11548872" cy="201168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52677A"/>
                </a:solidFill>
                <a:latin typeface="Yu Gothic"/>
              </a:rPr>
              <a:t>対応SVG: plate_boundary_conditions.svg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5669280" cy="3474720"/>
          </a:xfrm>
          <a:prstGeom prst="rect">
            <a:avLst/>
          </a:prstGeom>
          <a:solidFill>
            <a:srgbClr val="FFF4DD"/>
          </a:solidFill>
          <a:ln w="19050">
            <a:solidFill>
              <a:srgbClr val="B98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2300" b="1">
                <a:solidFill>
                  <a:srgbClr val="21364A"/>
                </a:solidFill>
                <a:latin typeface="Yu Gothic"/>
              </a:rPr>
              <a:t>板の内部 Ω
熱伝導 kΔT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069080"/>
            <a:ext cx="5669280" cy="594360"/>
          </a:xfrm>
          <a:prstGeom prst="rect">
            <a:avLst/>
          </a:prstGeom>
          <a:solidFill>
            <a:srgbClr val="EE6453"/>
          </a:solidFill>
          <a:ln w="19050">
            <a:solidFill>
              <a:srgbClr val="EE6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800" b="1">
                <a:solidFill>
                  <a:srgbClr val="21364A"/>
                </a:solidFill>
                <a:latin typeface="Yu Gothic"/>
              </a:rPr>
              <a:t>根元: T = Tᵦ（固定温度）</a:t>
            </a:r>
          </a:p>
        </p:txBody>
      </p:sp>
      <p:sp>
        <p:nvSpPr>
          <p:cNvPr id="6" name="Up Arrow 5"/>
          <p:cNvSpPr/>
          <p:nvPr/>
        </p:nvSpPr>
        <p:spPr>
          <a:xfrm>
            <a:off x="1234440" y="685800"/>
            <a:ext cx="292608" cy="502920"/>
          </a:xfrm>
          <a:prstGeom prst="up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Up Arrow 6"/>
          <p:cNvSpPr/>
          <p:nvPr/>
        </p:nvSpPr>
        <p:spPr>
          <a:xfrm>
            <a:off x="2423160" y="685800"/>
            <a:ext cx="292608" cy="502920"/>
          </a:xfrm>
          <a:prstGeom prst="up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Up Arrow 7"/>
          <p:cNvSpPr/>
          <p:nvPr/>
        </p:nvSpPr>
        <p:spPr>
          <a:xfrm>
            <a:off x="3611880" y="685800"/>
            <a:ext cx="292608" cy="502920"/>
          </a:xfrm>
          <a:prstGeom prst="up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Up Arrow 8"/>
          <p:cNvSpPr/>
          <p:nvPr/>
        </p:nvSpPr>
        <p:spPr>
          <a:xfrm>
            <a:off x="4800600" y="685800"/>
            <a:ext cx="292608" cy="502920"/>
          </a:xfrm>
          <a:prstGeom prst="up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Up Arrow 9"/>
          <p:cNvSpPr/>
          <p:nvPr/>
        </p:nvSpPr>
        <p:spPr>
          <a:xfrm>
            <a:off x="5989320" y="685800"/>
            <a:ext cx="292608" cy="502920"/>
          </a:xfrm>
          <a:prstGeom prst="up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eft Arrow 10"/>
          <p:cNvSpPr/>
          <p:nvPr/>
        </p:nvSpPr>
        <p:spPr>
          <a:xfrm>
            <a:off x="411480" y="2103120"/>
            <a:ext cx="502920" cy="292608"/>
          </a:xfrm>
          <a:prstGeom prst="left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6583680" y="2103120"/>
            <a:ext cx="502920" cy="292608"/>
          </a:xfrm>
          <a:prstGeom prst="right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43800" y="1097280"/>
            <a:ext cx="3474720" cy="3474720"/>
          </a:xfrm>
          <a:prstGeom prst="roundRect">
            <a:avLst/>
          </a:prstGeom>
          <a:solidFill>
            <a:srgbClr val="EAF4FF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800" b="1">
                <a:solidFill>
                  <a:srgbClr val="21364A"/>
                </a:solidFill>
                <a:latin typeface="Yu Gothic"/>
              </a:rPr>
              <a:t>計算で区別するもの
内部セル
根元セル
対流境界
形状の外部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074920"/>
            <a:ext cx="6217920" cy="548640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ctr"/>
            <a:r>
              <a:rPr sz="1700" b="0">
                <a:solidFill>
                  <a:srgbClr val="52677A"/>
                </a:solidFill>
                <a:latin typeface="Yu Gothic"/>
              </a:rPr>
              <a:t>側面・先端: −k ∂T/∂n = h(T − T∞)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48872" cy="457200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ctr"/>
            <a:r>
              <a:rPr sz="2400" b="1">
                <a:solidFill>
                  <a:srgbClr val="173451"/>
                </a:solidFill>
                <a:latin typeface="Yu Gothic"/>
              </a:rPr>
              <a:t>模様の見た目を複数の観察量へ分ける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10528"/>
            <a:ext cx="11548872" cy="201168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52677A"/>
                </a:solidFill>
                <a:latin typeface="Yu Gothic"/>
              </a:rPr>
              <a:t>対応SVG: pattern_measurements.svg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828800"/>
            <a:ext cx="1842150" cy="1325880"/>
          </a:xfrm>
          <a:prstGeom prst="roundRect">
            <a:avLst/>
          </a:prstGeom>
          <a:solidFill>
            <a:srgbClr val="EAF4FF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500" b="1">
                <a:solidFill>
                  <a:srgbClr val="21364A"/>
                </a:solidFill>
                <a:latin typeface="Yu Gothic"/>
              </a:rPr>
              <a:t>入力する模様
同じ画像を使う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326782" y="2350008"/>
            <a:ext cx="256032" cy="283464"/>
          </a:xfrm>
          <a:prstGeom prst="right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7406" y="1828800"/>
            <a:ext cx="1842150" cy="1325880"/>
          </a:xfrm>
          <a:prstGeom prst="roundRect">
            <a:avLst/>
          </a:prstGeom>
          <a:solidFill>
            <a:srgbClr val="EAF8EF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500" b="0">
                <a:solidFill>
                  <a:srgbClr val="21364A"/>
                </a:solidFill>
                <a:latin typeface="Yu Gothic"/>
              </a:rPr>
              <a:t>面積比
明るい画素 ÷ 全画素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754148" y="2350008"/>
            <a:ext cx="256032" cy="283464"/>
          </a:xfrm>
          <a:prstGeom prst="right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174772" y="1828800"/>
            <a:ext cx="1842150" cy="1325880"/>
          </a:xfrm>
          <a:prstGeom prst="roundRect">
            <a:avLst/>
          </a:prstGeom>
          <a:solidFill>
            <a:srgbClr val="FFF3E1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500" b="0">
                <a:solidFill>
                  <a:srgbClr val="21364A"/>
                </a:solidFill>
                <a:latin typeface="Yu Gothic"/>
              </a:rPr>
              <a:t>個数
連結領域を数える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181514" y="2350008"/>
            <a:ext cx="256032" cy="283464"/>
          </a:xfrm>
          <a:prstGeom prst="right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02138" y="1828800"/>
            <a:ext cx="1842150" cy="1325880"/>
          </a:xfrm>
          <a:prstGeom prst="roundRect">
            <a:avLst/>
          </a:prstGeom>
          <a:solidFill>
            <a:srgbClr val="F3EDFF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500" b="0">
                <a:solidFill>
                  <a:srgbClr val="21364A"/>
                </a:solidFill>
                <a:latin typeface="Yu Gothic"/>
              </a:rPr>
              <a:t>特徴波長
模様間隔 λ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608880" y="2350008"/>
            <a:ext cx="256032" cy="283464"/>
          </a:xfrm>
          <a:prstGeom prst="right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029504" y="1828800"/>
            <a:ext cx="1842150" cy="1325880"/>
          </a:xfrm>
          <a:prstGeom prst="roundRect">
            <a:avLst/>
          </a:prstGeom>
          <a:solidFill>
            <a:srgbClr val="EAF8F7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500" b="0">
                <a:solidFill>
                  <a:srgbClr val="21364A"/>
                </a:solidFill>
                <a:latin typeface="Yu Gothic"/>
              </a:rPr>
              <a:t>方向
縞の向き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74720"/>
            <a:ext cx="10908792" cy="502920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ctr"/>
            <a:r>
              <a:rPr sz="1600" b="0">
                <a:solidFill>
                  <a:srgbClr val="52677A"/>
                </a:solidFill>
                <a:latin typeface="Yu Gothic"/>
              </a:rPr>
              <a:t>1つの特徴量だけでは区別できない模様がある．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48872" cy="457200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ctr"/>
            <a:r>
              <a:rPr sz="2400" b="1">
                <a:solidFill>
                  <a:srgbClr val="173451"/>
                </a:solidFill>
                <a:latin typeface="Yu Gothic"/>
              </a:rPr>
              <a:t>乗降セルオートマトンの空間と規則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10528"/>
            <a:ext cx="11548872" cy="201168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52677A"/>
                </a:solidFill>
                <a:latin typeface="Yu Gothic"/>
              </a:rPr>
              <a:t>対応SVG: boarding_space_rules.svg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05840"/>
            <a:ext cx="6583680" cy="2286000"/>
          </a:xfrm>
          <a:prstGeom prst="rect">
            <a:avLst/>
          </a:prstGeom>
          <a:solidFill>
            <a:srgbClr val="EAF4FF"/>
          </a:solidFill>
          <a:ln w="19050">
            <a:solidFill>
              <a:srgbClr val="397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2200" b="1">
                <a:solidFill>
                  <a:srgbClr val="21364A"/>
                </a:solidFill>
                <a:latin typeface="Yu Gothic"/>
              </a:rPr>
              <a:t>車内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291840"/>
            <a:ext cx="6583680" cy="1280160"/>
          </a:xfrm>
          <a:prstGeom prst="rect">
            <a:avLst/>
          </a:prstGeom>
          <a:solidFill>
            <a:srgbClr val="FFF3E1"/>
          </a:solidFill>
          <a:ln w="19050">
            <a:solidFill>
              <a:srgbClr val="BD8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2200" b="1">
                <a:solidFill>
                  <a:srgbClr val="21364A"/>
                </a:solidFill>
                <a:latin typeface="Yu Gothic"/>
              </a:rPr>
              <a:t>ホーム</a:t>
            </a:r>
          </a:p>
        </p:txBody>
      </p:sp>
      <p:sp>
        <p:nvSpPr>
          <p:cNvPr id="6" name="Rectangle 5"/>
          <p:cNvSpPr/>
          <p:nvPr/>
        </p:nvSpPr>
        <p:spPr>
          <a:xfrm>
            <a:off x="3246120" y="2926080"/>
            <a:ext cx="128016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D25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800" b="1">
                <a:solidFill>
                  <a:srgbClr val="21364A"/>
                </a:solidFill>
                <a:latin typeface="Yu Gothic"/>
              </a:rPr>
              <a:t>ドア</a:t>
            </a:r>
          </a:p>
        </p:txBody>
      </p:sp>
      <p:sp>
        <p:nvSpPr>
          <p:cNvPr id="7" name="Oval 6"/>
          <p:cNvSpPr/>
          <p:nvPr/>
        </p:nvSpPr>
        <p:spPr>
          <a:xfrm>
            <a:off x="3337560" y="1508760"/>
            <a:ext cx="685800" cy="685800"/>
          </a:xfrm>
          <a:prstGeom prst="ellipse">
            <a:avLst/>
          </a:prstGeom>
          <a:solidFill>
            <a:srgbClr val="FFECEF"/>
          </a:solidFill>
          <a:ln w="22860">
            <a:solidFill>
              <a:srgbClr val="D95F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600" b="1">
                <a:solidFill>
                  <a:srgbClr val="21364A"/>
                </a:solidFill>
                <a:latin typeface="Yu Gothic"/>
              </a:rPr>
              <a:t>降</a:t>
            </a:r>
          </a:p>
        </p:txBody>
      </p:sp>
      <p:sp>
        <p:nvSpPr>
          <p:cNvPr id="8" name="Oval 7"/>
          <p:cNvSpPr/>
          <p:nvPr/>
        </p:nvSpPr>
        <p:spPr>
          <a:xfrm>
            <a:off x="3794760" y="3657600"/>
            <a:ext cx="685800" cy="685800"/>
          </a:xfrm>
          <a:prstGeom prst="ellipse">
            <a:avLst/>
          </a:prstGeom>
          <a:solidFill>
            <a:srgbClr val="EAF4FF"/>
          </a:solidFill>
          <a:ln w="22860">
            <a:solidFill>
              <a:srgbClr val="3C8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600" b="1">
                <a:solidFill>
                  <a:srgbClr val="21364A"/>
                </a:solidFill>
                <a:latin typeface="Yu Gothic"/>
              </a:rPr>
              <a:t>乗</a:t>
            </a:r>
          </a:p>
        </p:txBody>
      </p:sp>
      <p:sp>
        <p:nvSpPr>
          <p:cNvPr id="9" name="Down Arrow 8"/>
          <p:cNvSpPr/>
          <p:nvPr/>
        </p:nvSpPr>
        <p:spPr>
          <a:xfrm>
            <a:off x="3493008" y="2194560"/>
            <a:ext cx="320040" cy="640080"/>
          </a:xfrm>
          <a:prstGeom prst="down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Up Arrow 9"/>
          <p:cNvSpPr/>
          <p:nvPr/>
        </p:nvSpPr>
        <p:spPr>
          <a:xfrm>
            <a:off x="3977639" y="3063240"/>
            <a:ext cx="320040" cy="640080"/>
          </a:xfrm>
          <a:prstGeom prst="up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26679" y="1143000"/>
            <a:ext cx="3749039" cy="3566160"/>
          </a:xfrm>
          <a:prstGeom prst="roundRect">
            <a:avLst/>
          </a:prstGeom>
          <a:solidFill>
            <a:srgbClr val="F3EDFF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700" b="1">
                <a:solidFill>
                  <a:srgbClr val="21364A"/>
                </a:solidFill>
                <a:latin typeface="Yu Gothic"/>
              </a:rPr>
              <a:t>1ステップの規則
1. 近傍から候補を選ぶ
2. 同じセルの競合を解く
3. 確定した移動を反映
1セルに1人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48872" cy="457200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ctr"/>
            <a:r>
              <a:rPr sz="2400" b="1">
                <a:solidFill>
                  <a:srgbClr val="173451"/>
                </a:solidFill>
                <a:latin typeface="Yu Gothic"/>
              </a:rPr>
              <a:t>確率的シミュレーションは分布で比較する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10528"/>
            <a:ext cx="11548872" cy="201168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52677A"/>
                </a:solidFill>
                <a:latin typeface="Yu Gothic"/>
              </a:rPr>
              <a:t>対応SVG: repeated_simulation.svg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874519"/>
            <a:ext cx="3460394" cy="1325880"/>
          </a:xfrm>
          <a:prstGeom prst="roundRect">
            <a:avLst/>
          </a:prstGeom>
          <a:solidFill>
            <a:srgbClr val="EAF4FF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500" b="1">
                <a:solidFill>
                  <a:srgbClr val="21364A"/>
                </a:solidFill>
                <a:latin typeface="Yu Gothic"/>
              </a:rPr>
              <a:t>固定する条件
人数・空間・規則・更新方式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945026" y="2395727"/>
            <a:ext cx="256032" cy="283464"/>
          </a:xfrm>
          <a:prstGeom prst="right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65650" y="1874519"/>
            <a:ext cx="3460394" cy="1325880"/>
          </a:xfrm>
          <a:prstGeom prst="roundRect">
            <a:avLst/>
          </a:prstGeom>
          <a:solidFill>
            <a:srgbClr val="EAF8EF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500" b="0">
                <a:solidFill>
                  <a:srgbClr val="21364A"/>
                </a:solidFill>
                <a:latin typeface="Yu Gothic"/>
              </a:rPr>
              <a:t>seedだけ変える
seed 1 → T₁，…，seed n → Tₙ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990636" y="2395727"/>
            <a:ext cx="256032" cy="283464"/>
          </a:xfrm>
          <a:prstGeom prst="right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1260" y="1874519"/>
            <a:ext cx="3460394" cy="1325880"/>
          </a:xfrm>
          <a:prstGeom prst="roundRect">
            <a:avLst/>
          </a:prstGeom>
          <a:solidFill>
            <a:srgbClr val="FFF3E1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500" b="0">
                <a:solidFill>
                  <a:srgbClr val="21364A"/>
                </a:solidFill>
                <a:latin typeface="Yu Gothic"/>
              </a:rPr>
              <a:t>分布として比較
平均・中央値・ばらつき・未完了率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20439"/>
            <a:ext cx="10908792" cy="502920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ctr"/>
            <a:r>
              <a:rPr sz="1600" b="0">
                <a:solidFill>
                  <a:srgbClr val="52677A"/>
                </a:solidFill>
                <a:latin typeface="Yu Gothic"/>
              </a:rPr>
              <a:t>基準条件と代替条件には同じseed集合を使い，偶然差をそろえる．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48872" cy="457200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ctr"/>
            <a:r>
              <a:rPr sz="2400" b="1">
                <a:solidFill>
                  <a:srgbClr val="173451"/>
                </a:solidFill>
                <a:latin typeface="Yu Gothic"/>
              </a:rPr>
              <a:t>2人の線形ODEと係数行列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10528"/>
            <a:ext cx="11548872" cy="201168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52677A"/>
                </a:solidFill>
                <a:latin typeface="Yu Gothic"/>
              </a:rPr>
              <a:t>対応SVG: two_person_coupling.svg</a:t>
            </a:r>
          </a:p>
        </p:txBody>
      </p:sp>
      <p:sp>
        <p:nvSpPr>
          <p:cNvPr id="4" name="Oval 3"/>
          <p:cNvSpPr/>
          <p:nvPr/>
        </p:nvSpPr>
        <p:spPr>
          <a:xfrm>
            <a:off x="1143000" y="1874519"/>
            <a:ext cx="1371600" cy="1371600"/>
          </a:xfrm>
          <a:prstGeom prst="ellipse">
            <a:avLst/>
          </a:prstGeom>
          <a:solidFill>
            <a:srgbClr val="EAF4FF"/>
          </a:solidFill>
          <a:ln w="22860">
            <a:solidFill>
              <a:srgbClr val="397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2100" b="1">
                <a:solidFill>
                  <a:srgbClr val="21364A"/>
                </a:solidFill>
                <a:latin typeface="Yu Gothic"/>
              </a:rPr>
              <a:t>R(t)</a:t>
            </a:r>
          </a:p>
        </p:txBody>
      </p:sp>
      <p:sp>
        <p:nvSpPr>
          <p:cNvPr id="5" name="Oval 4"/>
          <p:cNvSpPr/>
          <p:nvPr/>
        </p:nvSpPr>
        <p:spPr>
          <a:xfrm>
            <a:off x="3886200" y="1874519"/>
            <a:ext cx="1371600" cy="1371600"/>
          </a:xfrm>
          <a:prstGeom prst="ellipse">
            <a:avLst/>
          </a:prstGeom>
          <a:solidFill>
            <a:srgbClr val="FFF3E1"/>
          </a:solidFill>
          <a:ln w="22860">
            <a:solidFill>
              <a:srgbClr val="C86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2100" b="1">
                <a:solidFill>
                  <a:srgbClr val="21364A"/>
                </a:solidFill>
                <a:latin typeface="Yu Gothic"/>
              </a:rPr>
              <a:t>J(t)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60320" y="1600200"/>
            <a:ext cx="1280160" cy="320040"/>
          </a:xfrm>
          <a:prstGeom prst="right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71800" y="1188720"/>
            <a:ext cx="457200" cy="365760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ctr"/>
            <a:r>
              <a:rPr sz="2000" b="1">
                <a:solidFill>
                  <a:srgbClr val="21364A"/>
                </a:solidFill>
                <a:latin typeface="Yu Gothic"/>
              </a:rPr>
              <a:t>c</a:t>
            </a:r>
          </a:p>
        </p:txBody>
      </p:sp>
      <p:sp>
        <p:nvSpPr>
          <p:cNvPr id="8" name="Left Arrow 7"/>
          <p:cNvSpPr/>
          <p:nvPr/>
        </p:nvSpPr>
        <p:spPr>
          <a:xfrm>
            <a:off x="2560320" y="3291840"/>
            <a:ext cx="1280160" cy="320040"/>
          </a:xfrm>
          <a:prstGeom prst="left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3657600"/>
            <a:ext cx="457200" cy="365760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ctr"/>
            <a:r>
              <a:rPr sz="2000" b="1">
                <a:solidFill>
                  <a:srgbClr val="21364A"/>
                </a:solidFill>
                <a:latin typeface="Yu Gothic"/>
              </a:rPr>
              <a:t>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097280"/>
            <a:ext cx="4663440" cy="3840480"/>
          </a:xfrm>
          <a:prstGeom prst="roundRect">
            <a:avLst/>
          </a:prstGeom>
          <a:solidFill>
            <a:srgbClr val="F3EDFF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2100" b="1">
                <a:solidFill>
                  <a:srgbClr val="21364A"/>
                </a:solidFill>
                <a:latin typeface="Yu Gothic"/>
              </a:rPr>
              <a:t>d/dt (R, J)ᵀ = M(R, J)ᵀ
M = ⎛ a  b ⎞
    ⎝ c  d ⎠
第1行 → dR/dt
第2行 → dJ/dt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57800"/>
            <a:ext cx="10360152" cy="548640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ctr"/>
            <a:r>
              <a:rPr sz="1700" b="0">
                <a:solidFill>
                  <a:srgbClr val="52677A"/>
                </a:solidFill>
                <a:latin typeface="Yu Gothic"/>
              </a:rPr>
              <a:t>符号を1個ずつ見るだけでなく，行列全体の固有値で挙動を判断する．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48872" cy="457200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ctr"/>
            <a:r>
              <a:rPr sz="2400" b="1">
                <a:solidFill>
                  <a:srgbClr val="173451"/>
                </a:solidFill>
                <a:latin typeface="Yu Gothic"/>
              </a:rPr>
              <a:t>背板形状比較を研究へ育てる流れ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10528"/>
            <a:ext cx="11548872" cy="201168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52677A"/>
                </a:solidFill>
                <a:latin typeface="Yu Gothic"/>
              </a:rPr>
              <a:t>対応SVG: heat_research_pipeline.svg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965960"/>
            <a:ext cx="1437589" cy="1325880"/>
          </a:xfrm>
          <a:prstGeom prst="roundRect">
            <a:avLst/>
          </a:prstGeom>
          <a:solidFill>
            <a:srgbClr val="EAF4FF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500" b="1">
                <a:solidFill>
                  <a:srgbClr val="21364A"/>
                </a:solidFill>
                <a:latin typeface="Yu Gothic"/>
              </a:rPr>
              <a:t>基準計算
長方形・収支・格子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922221" y="2487168"/>
            <a:ext cx="256032" cy="283464"/>
          </a:xfrm>
          <a:prstGeom prst="right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342845" y="1965960"/>
            <a:ext cx="1437589" cy="1325880"/>
          </a:xfrm>
          <a:prstGeom prst="roundRect">
            <a:avLst/>
          </a:prstGeom>
          <a:solidFill>
            <a:srgbClr val="EAF8EF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500" b="0">
                <a:solidFill>
                  <a:srgbClr val="21364A"/>
                </a:solidFill>
                <a:latin typeface="Yu Gothic"/>
              </a:rPr>
              <a:t>形状を1つ追加
輪郭・面積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945026" y="2487168"/>
            <a:ext cx="256032" cy="283464"/>
          </a:xfrm>
          <a:prstGeom prst="right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65650" y="1965960"/>
            <a:ext cx="1437589" cy="1325880"/>
          </a:xfrm>
          <a:prstGeom prst="roundRect">
            <a:avLst/>
          </a:prstGeom>
          <a:solidFill>
            <a:srgbClr val="FFF3E1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500" b="0">
                <a:solidFill>
                  <a:srgbClr val="21364A"/>
                </a:solidFill>
                <a:latin typeface="Yu Gothic"/>
              </a:rPr>
              <a:t>公平に正規化
同体積など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67831" y="2487168"/>
            <a:ext cx="256032" cy="283464"/>
          </a:xfrm>
          <a:prstGeom prst="right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88455" y="1965960"/>
            <a:ext cx="1437589" cy="1325880"/>
          </a:xfrm>
          <a:prstGeom prst="roundRect">
            <a:avLst/>
          </a:prstGeom>
          <a:solidFill>
            <a:srgbClr val="F3EDFF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500" b="0">
                <a:solidFill>
                  <a:srgbClr val="21364A"/>
                </a:solidFill>
                <a:latin typeface="Yu Gothic"/>
              </a:rPr>
              <a:t>2形状を比較
同じ色尺度・主指標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990636" y="2487168"/>
            <a:ext cx="256032" cy="283464"/>
          </a:xfrm>
          <a:prstGeom prst="right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1260" y="1965960"/>
            <a:ext cx="1437589" cy="1325880"/>
          </a:xfrm>
          <a:prstGeom prst="roundRect">
            <a:avLst/>
          </a:prstGeom>
          <a:solidFill>
            <a:srgbClr val="EAF8F7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500" b="0">
                <a:solidFill>
                  <a:srgbClr val="21364A"/>
                </a:solidFill>
                <a:latin typeface="Yu Gothic"/>
              </a:rPr>
              <a:t>差を検証
数値誤差との大小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0013441" y="2487168"/>
            <a:ext cx="256032" cy="283464"/>
          </a:xfrm>
          <a:prstGeom prst="right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434066" y="1965960"/>
            <a:ext cx="1437589" cy="1325880"/>
          </a:xfrm>
          <a:prstGeom prst="roundRect">
            <a:avLst/>
          </a:prstGeom>
          <a:solidFill>
            <a:srgbClr val="FFECEF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500" b="0">
                <a:solidFill>
                  <a:srgbClr val="21364A"/>
                </a:solidFill>
                <a:latin typeface="Yu Gothic"/>
              </a:rPr>
              <a:t>拡張
形態系列・感度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11880"/>
            <a:ext cx="10908792" cy="502920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ctr"/>
            <a:r>
              <a:rPr sz="1600" b="0">
                <a:solidFill>
                  <a:srgbClr val="52677A"/>
                </a:solidFill>
                <a:latin typeface="Yu Gothic"/>
              </a:rPr>
              <a:t>一度に複雑化せず，各段階の判断と検証結果を研究ノートに残す．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48872" cy="457200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ctr"/>
            <a:r>
              <a:rPr sz="2400" b="1">
                <a:solidFill>
                  <a:srgbClr val="173451"/>
                </a:solidFill>
                <a:latin typeface="Yu Gothic"/>
              </a:rPr>
              <a:t>実画像と生成模様を比較する流れ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10528"/>
            <a:ext cx="11548872" cy="201168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52677A"/>
                </a:solidFill>
                <a:latin typeface="Yu Gothic"/>
              </a:rPr>
              <a:t>対応SVG: pattern_research_pipeline.svg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965960"/>
            <a:ext cx="1842150" cy="1325880"/>
          </a:xfrm>
          <a:prstGeom prst="roundRect">
            <a:avLst/>
          </a:prstGeom>
          <a:solidFill>
            <a:srgbClr val="EAF4FF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500" b="1">
                <a:solidFill>
                  <a:srgbClr val="21364A"/>
                </a:solidFill>
                <a:latin typeface="Yu Gothic"/>
              </a:rPr>
              <a:t>実画像
前処理を固定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326782" y="2487168"/>
            <a:ext cx="256032" cy="283464"/>
          </a:xfrm>
          <a:prstGeom prst="right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7406" y="1965960"/>
            <a:ext cx="1842150" cy="1325880"/>
          </a:xfrm>
          <a:prstGeom prst="roundRect">
            <a:avLst/>
          </a:prstGeom>
          <a:solidFill>
            <a:srgbClr val="EAF8EF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500" b="0">
                <a:solidFill>
                  <a:srgbClr val="21364A"/>
                </a:solidFill>
                <a:latin typeface="Yu Gothic"/>
              </a:rPr>
              <a:t>生成模様
seed・保存時刻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754148" y="2487168"/>
            <a:ext cx="256032" cy="283464"/>
          </a:xfrm>
          <a:prstGeom prst="right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174772" y="1965960"/>
            <a:ext cx="1842150" cy="1325880"/>
          </a:xfrm>
          <a:prstGeom prst="roundRect">
            <a:avLst/>
          </a:prstGeom>
          <a:solidFill>
            <a:srgbClr val="FFF3E1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500" b="0">
                <a:solidFill>
                  <a:srgbClr val="21364A"/>
                </a:solidFill>
                <a:latin typeface="Yu Gothic"/>
              </a:rPr>
              <a:t>同じ特徴量
面積比・波長など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181514" y="2487168"/>
            <a:ext cx="256032" cy="283464"/>
          </a:xfrm>
          <a:prstGeom prst="right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02138" y="1965960"/>
            <a:ext cx="1842150" cy="1325880"/>
          </a:xfrm>
          <a:prstGeom prst="roundRect">
            <a:avLst/>
          </a:prstGeom>
          <a:solidFill>
            <a:srgbClr val="F3EDFF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500" b="0">
                <a:solidFill>
                  <a:srgbClr val="21364A"/>
                </a:solidFill>
                <a:latin typeface="Yu Gothic"/>
              </a:rPr>
              <a:t>距離を比較
粗い探索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608880" y="2487168"/>
            <a:ext cx="256032" cy="283464"/>
          </a:xfrm>
          <a:prstGeom prst="right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029504" y="1965960"/>
            <a:ext cx="1842150" cy="1325880"/>
          </a:xfrm>
          <a:prstGeom prst="roundRect">
            <a:avLst/>
          </a:prstGeom>
          <a:solidFill>
            <a:srgbClr val="EAF8F7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500" b="0">
                <a:solidFill>
                  <a:srgbClr val="21364A"/>
                </a:solidFill>
                <a:latin typeface="Yu Gothic"/>
              </a:rPr>
              <a:t>検証
未使用画像・別seed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908792" cy="502920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ctr"/>
            <a:r>
              <a:rPr sz="1600" b="0">
                <a:solidFill>
                  <a:srgbClr val="52677A"/>
                </a:solidFill>
                <a:latin typeface="Yu Gothic"/>
              </a:rPr>
              <a:t>一度に複雑化せず，各段階の判断と検証結果を研究ノートに残す．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48872" cy="457200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ctr"/>
            <a:r>
              <a:rPr sz="2400" b="1">
                <a:solidFill>
                  <a:srgbClr val="173451"/>
                </a:solidFill>
                <a:latin typeface="Yu Gothic"/>
              </a:rPr>
              <a:t>乗降行動を規則へ変換して比較する流れ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10528"/>
            <a:ext cx="11548872" cy="201168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52677A"/>
                </a:solidFill>
                <a:latin typeface="Yu Gothic"/>
              </a:rPr>
              <a:t>対応SVG: boarding_research_pipeline.svg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965960"/>
            <a:ext cx="1437589" cy="1325880"/>
          </a:xfrm>
          <a:prstGeom prst="roundRect">
            <a:avLst/>
          </a:prstGeom>
          <a:solidFill>
            <a:srgbClr val="EAF4FF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500" b="1">
                <a:solidFill>
                  <a:srgbClr val="21364A"/>
                </a:solidFill>
                <a:latin typeface="Yu Gothic"/>
              </a:rPr>
              <a:t>観察
位置変化を記録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922221" y="2487168"/>
            <a:ext cx="256032" cy="283464"/>
          </a:xfrm>
          <a:prstGeom prst="right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342845" y="1965960"/>
            <a:ext cx="1437589" cy="1325880"/>
          </a:xfrm>
          <a:prstGeom prst="roundRect">
            <a:avLst/>
          </a:prstGeom>
          <a:solidFill>
            <a:srgbClr val="EAF8EF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500" b="0">
                <a:solidFill>
                  <a:srgbClr val="21364A"/>
                </a:solidFill>
                <a:latin typeface="Yu Gothic"/>
              </a:rPr>
              <a:t>操作的定義
いつ・どこへ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945026" y="2487168"/>
            <a:ext cx="256032" cy="283464"/>
          </a:xfrm>
          <a:prstGeom prst="right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65650" y="1965960"/>
            <a:ext cx="1437589" cy="1325880"/>
          </a:xfrm>
          <a:prstGeom prst="roundRect">
            <a:avLst/>
          </a:prstGeom>
          <a:solidFill>
            <a:srgbClr val="FFF3E1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500" b="0">
                <a:solidFill>
                  <a:srgbClr val="21364A"/>
                </a:solidFill>
                <a:latin typeface="Yu Gothic"/>
              </a:rPr>
              <a:t>擬似コード
競合も記述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67831" y="2487168"/>
            <a:ext cx="256032" cy="283464"/>
          </a:xfrm>
          <a:prstGeom prst="right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88455" y="1965960"/>
            <a:ext cx="1437589" cy="1325880"/>
          </a:xfrm>
          <a:prstGeom prst="roundRect">
            <a:avLst/>
          </a:prstGeom>
          <a:solidFill>
            <a:srgbClr val="F3EDFF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500" b="0">
                <a:solidFill>
                  <a:srgbClr val="21364A"/>
                </a:solidFill>
                <a:latin typeface="Yu Gothic"/>
              </a:rPr>
              <a:t>小配置テスト
1～3人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990636" y="2487168"/>
            <a:ext cx="256032" cy="283464"/>
          </a:xfrm>
          <a:prstGeom prst="right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1260" y="1965960"/>
            <a:ext cx="1437589" cy="1325880"/>
          </a:xfrm>
          <a:prstGeom prst="roundRect">
            <a:avLst/>
          </a:prstGeom>
          <a:solidFill>
            <a:srgbClr val="EAF8F7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500" b="0">
                <a:solidFill>
                  <a:srgbClr val="21364A"/>
                </a:solidFill>
                <a:latin typeface="Yu Gothic"/>
              </a:rPr>
              <a:t>反復比較
同じseed集合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0013441" y="2487168"/>
            <a:ext cx="256032" cy="283464"/>
          </a:xfrm>
          <a:prstGeom prst="right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434066" y="1965960"/>
            <a:ext cx="1437589" cy="1325880"/>
          </a:xfrm>
          <a:prstGeom prst="roundRect">
            <a:avLst/>
          </a:prstGeom>
          <a:solidFill>
            <a:srgbClr val="FFECEF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500" b="0">
                <a:solidFill>
                  <a:srgbClr val="21364A"/>
                </a:solidFill>
                <a:latin typeface="Yu Gothic"/>
              </a:rPr>
              <a:t>拡張
割合・人数・感度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11880"/>
            <a:ext cx="10908792" cy="502920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ctr"/>
            <a:r>
              <a:rPr sz="1600" b="0">
                <a:solidFill>
                  <a:srgbClr val="52677A"/>
                </a:solidFill>
                <a:latin typeface="Yu Gothic"/>
              </a:rPr>
              <a:t>一度に複雑化せず，各段階の判断と検証結果を研究ノートに残す．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48872" cy="457200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ctr"/>
            <a:r>
              <a:rPr sz="2400" b="1">
                <a:solidFill>
                  <a:srgbClr val="173451"/>
                </a:solidFill>
                <a:latin typeface="Yu Gothic"/>
              </a:rPr>
              <a:t>物語の観測から関係モデルを検証する流れ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10528"/>
            <a:ext cx="11548872" cy="201168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52677A"/>
                </a:solidFill>
                <a:latin typeface="Yu Gothic"/>
              </a:rPr>
              <a:t>対応SVG: relation_research_pipeline.svg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965960"/>
            <a:ext cx="1437589" cy="1325880"/>
          </a:xfrm>
          <a:prstGeom prst="roundRect">
            <a:avLst/>
          </a:prstGeom>
          <a:solidFill>
            <a:srgbClr val="EAF4FF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500" b="1">
                <a:solidFill>
                  <a:srgbClr val="21364A"/>
                </a:solidFill>
                <a:latin typeface="Yu Gothic"/>
              </a:rPr>
              <a:t>対象範囲
人物・場面・時間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922221" y="2487168"/>
            <a:ext cx="256032" cy="283464"/>
          </a:xfrm>
          <a:prstGeom prst="right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342845" y="1965960"/>
            <a:ext cx="1437589" cy="1325880"/>
          </a:xfrm>
          <a:prstGeom prst="roundRect">
            <a:avLst/>
          </a:prstGeom>
          <a:solidFill>
            <a:srgbClr val="EAF8EF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500" b="0">
                <a:solidFill>
                  <a:srgbClr val="21364A"/>
                </a:solidFill>
                <a:latin typeface="Yu Gothic"/>
              </a:rPr>
              <a:t>状態を定義
尺度・不明値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945026" y="2487168"/>
            <a:ext cx="256032" cy="283464"/>
          </a:xfrm>
          <a:prstGeom prst="right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65650" y="1965960"/>
            <a:ext cx="1437589" cy="1325880"/>
          </a:xfrm>
          <a:prstGeom prst="roundRect">
            <a:avLst/>
          </a:prstGeom>
          <a:solidFill>
            <a:srgbClr val="FFF3E1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500" b="0">
                <a:solidFill>
                  <a:srgbClr val="21364A"/>
                </a:solidFill>
                <a:latin typeface="Yu Gothic"/>
              </a:rPr>
              <a:t>少量で試す
不一致から修正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67831" y="2487168"/>
            <a:ext cx="256032" cy="283464"/>
          </a:xfrm>
          <a:prstGeom prst="right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88455" y="1965960"/>
            <a:ext cx="1437589" cy="1325880"/>
          </a:xfrm>
          <a:prstGeom prst="roundRect">
            <a:avLst/>
          </a:prstGeom>
          <a:solidFill>
            <a:srgbClr val="F3EDFF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500" b="0">
                <a:solidFill>
                  <a:srgbClr val="21364A"/>
                </a:solidFill>
                <a:latin typeface="Yu Gothic"/>
              </a:rPr>
              <a:t>2人基準
予測と残差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990636" y="2487168"/>
            <a:ext cx="256032" cy="283464"/>
          </a:xfrm>
          <a:prstGeom prst="right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1260" y="1965960"/>
            <a:ext cx="1437589" cy="1325880"/>
          </a:xfrm>
          <a:prstGeom prst="roundRect">
            <a:avLst/>
          </a:prstGeom>
          <a:solidFill>
            <a:srgbClr val="EAF8F7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500" b="0">
                <a:solidFill>
                  <a:srgbClr val="21364A"/>
                </a:solidFill>
                <a:latin typeface="Yu Gothic"/>
              </a:rPr>
              <a:t>1項だけ追加
残差に対応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0013441" y="2487168"/>
            <a:ext cx="256032" cy="283464"/>
          </a:xfrm>
          <a:prstGeom prst="right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434066" y="1965960"/>
            <a:ext cx="1437589" cy="1325880"/>
          </a:xfrm>
          <a:prstGeom prst="roundRect">
            <a:avLst/>
          </a:prstGeom>
          <a:solidFill>
            <a:srgbClr val="FFECEF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500" b="0">
                <a:solidFill>
                  <a:srgbClr val="21364A"/>
                </a:solidFill>
                <a:latin typeface="Yu Gothic"/>
              </a:rPr>
              <a:t>検証
未使用場面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11880"/>
            <a:ext cx="10908792" cy="502920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ctr"/>
            <a:r>
              <a:rPr sz="1600" b="0">
                <a:solidFill>
                  <a:srgbClr val="52677A"/>
                </a:solidFill>
                <a:latin typeface="Yu Gothic"/>
              </a:rPr>
              <a:t>一度に複雑化せず，各段階の判断と検証結果を研究ノートに残す．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48872" cy="457200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ctr"/>
            <a:r>
              <a:rPr sz="2400" b="1">
                <a:solidFill>
                  <a:srgbClr val="173451"/>
                </a:solidFill>
                <a:latin typeface="Yu Gothic"/>
              </a:rPr>
              <a:t>4テーマから研究方法を相互に借りる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10528"/>
            <a:ext cx="11548872" cy="201168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52677A"/>
                </a:solidFill>
                <a:latin typeface="Yu Gothic"/>
              </a:rPr>
              <a:t>対応SVG: cross_theme_transfer.svg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77639" y="2148840"/>
            <a:ext cx="4251960" cy="1874519"/>
          </a:xfrm>
          <a:prstGeom prst="roundRect">
            <a:avLst/>
          </a:prstGeom>
          <a:solidFill>
            <a:srgbClr val="EDF3F8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2000" b="1">
                <a:solidFill>
                  <a:srgbClr val="21364A"/>
                </a:solidFill>
                <a:latin typeface="Yu Gothic"/>
              </a:rPr>
              <a:t>自分の卒業研究
問い → 最小モデル → 比較
→ 評価指標 → 検証 → 限界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914400"/>
            <a:ext cx="2834640" cy="1508760"/>
          </a:xfrm>
          <a:prstGeom prst="roundRect">
            <a:avLst/>
          </a:prstGeom>
          <a:solidFill>
            <a:srgbClr val="FFECEF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800" b="1">
                <a:solidFill>
                  <a:srgbClr val="21364A"/>
                </a:solidFill>
                <a:latin typeface="Yu Gothic"/>
              </a:rPr>
              <a:t>放熱
公平な比較条件
格子収束・収支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914400"/>
            <a:ext cx="2834640" cy="1508760"/>
          </a:xfrm>
          <a:prstGeom prst="roundRect">
            <a:avLst/>
          </a:prstGeom>
          <a:solidFill>
            <a:srgbClr val="F3EDFF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800" b="1">
                <a:solidFill>
                  <a:srgbClr val="21364A"/>
                </a:solidFill>
                <a:latin typeface="Yu Gothic"/>
              </a:rPr>
              <a:t>模様
見た目を特徴量へ
パラメータ地図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206240"/>
            <a:ext cx="2834640" cy="1508760"/>
          </a:xfrm>
          <a:prstGeom prst="roundRect">
            <a:avLst/>
          </a:prstGeom>
          <a:solidFill>
            <a:srgbClr val="EAF4FF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800" b="1">
                <a:solidFill>
                  <a:srgbClr val="21364A"/>
                </a:solidFill>
                <a:latin typeface="Yu Gothic"/>
              </a:rPr>
              <a:t>乗降
更新規則への感度
seed反復・分布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4206240"/>
            <a:ext cx="2834640" cy="1508760"/>
          </a:xfrm>
          <a:prstGeom prst="roundRect">
            <a:avLst/>
          </a:prstGeom>
          <a:solidFill>
            <a:srgbClr val="EAF8EF"/>
          </a:solidFill>
          <a:ln w="19050"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800" b="1">
                <a:solidFill>
                  <a:srgbClr val="21364A"/>
                </a:solidFill>
                <a:latin typeface="Yu Gothic"/>
              </a:rPr>
              <a:t>関係モデル
結合構造・固有値
推定と検証の分離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383280" y="1645920"/>
            <a:ext cx="640080" cy="320040"/>
          </a:xfrm>
          <a:prstGeom prst="right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eft Arrow 9"/>
          <p:cNvSpPr/>
          <p:nvPr/>
        </p:nvSpPr>
        <p:spPr>
          <a:xfrm>
            <a:off x="8183879" y="1645920"/>
            <a:ext cx="640080" cy="320040"/>
          </a:xfrm>
          <a:prstGeom prst="left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3383280" y="4846320"/>
            <a:ext cx="640080" cy="320040"/>
          </a:xfrm>
          <a:prstGeom prst="right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eft Arrow 11"/>
          <p:cNvSpPr/>
          <p:nvPr/>
        </p:nvSpPr>
        <p:spPr>
          <a:xfrm>
            <a:off x="8183879" y="4846320"/>
            <a:ext cx="640080" cy="320040"/>
          </a:xfrm>
          <a:prstGeom prst="leftArrow">
            <a:avLst/>
          </a:prstGeom>
          <a:solidFill>
            <a:srgbClr val="60798E"/>
          </a:solidFill>
          <a:ln>
            <a:solidFill>
              <a:srgbClr val="607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